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80729" y="1960066"/>
            <a:ext cx="4982514" cy="6893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spc="7" kern="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TABLEAU MCP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2541361" y="2792313"/>
            <a:ext cx="4061222" cy="39112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個人環境PoC 予算取得に向けた実施方針整理</a:t>
            </a:r>
            <a:endParaRPr lang="en-US" sz="139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483631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PoCの狙いは短期間での実現性確認</a:t>
            </a:r>
            <a:endParaRPr lang="en-US" sz="2121" dirty="0"/>
          </a:p>
        </p:txBody>
      </p:sp>
      <p:sp>
        <p:nvSpPr>
          <p:cNvPr id="7" name="Shape 4"/>
          <p:cNvSpPr/>
          <p:nvPr/>
        </p:nvSpPr>
        <p:spPr>
          <a:xfrm>
            <a:off x="1007269" y="1293019"/>
            <a:ext cx="2143125" cy="1081553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8" name="Shape 5"/>
          <p:cNvSpPr/>
          <p:nvPr/>
        </p:nvSpPr>
        <p:spPr>
          <a:xfrm>
            <a:off x="1007269" y="2367428"/>
            <a:ext cx="21431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07269" y="1293019"/>
            <a:ext cx="2143125" cy="1081553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3150394" y="1293019"/>
            <a:ext cx="5000625" cy="1081553"/>
          </a:xfrm>
          <a:prstGeom prst="rect">
            <a:avLst/>
          </a:prstGeom>
          <a:solidFill>
            <a:srgbClr val="F8FDFF"/>
          </a:solidFill>
          <a:ln/>
        </p:spPr>
      </p:sp>
      <p:sp>
        <p:nvSpPr>
          <p:cNvPr id="11" name="Shape 8"/>
          <p:cNvSpPr/>
          <p:nvPr/>
        </p:nvSpPr>
        <p:spPr>
          <a:xfrm>
            <a:off x="3150394" y="2367428"/>
            <a:ext cx="5000625" cy="7144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12" name="Text 9"/>
          <p:cNvSpPr/>
          <p:nvPr/>
        </p:nvSpPr>
        <p:spPr>
          <a:xfrm>
            <a:off x="3150394" y="1293019"/>
            <a:ext cx="5000625" cy="1081553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Tableau上の公開データソースに対し、自然言語での探索・分析が可能かを検証したい。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1007269" y="2367428"/>
            <a:ext cx="2143125" cy="1081553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7269" y="3441836"/>
            <a:ext cx="21431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7269" y="2367428"/>
            <a:ext cx="2143125" cy="1081553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3150394" y="2367428"/>
            <a:ext cx="5000625" cy="1081553"/>
          </a:xfrm>
          <a:prstGeom prst="rect">
            <a:avLst/>
          </a:prstGeom>
          <a:solidFill>
            <a:srgbClr val="F8FD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150394" y="3441836"/>
            <a:ext cx="5000625" cy="7144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18" name="Text 15"/>
          <p:cNvSpPr/>
          <p:nvPr/>
        </p:nvSpPr>
        <p:spPr>
          <a:xfrm>
            <a:off x="3150394" y="2367428"/>
            <a:ext cx="5000625" cy="1081553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個人環境での最小構成（MVP）において、自社LLMを介した問い合わせが成立するかを短期間で確認する。</a:t>
            </a:r>
            <a:endParaRPr lang="en-US" sz="1159" dirty="0"/>
          </a:p>
        </p:txBody>
      </p:sp>
      <p:sp>
        <p:nvSpPr>
          <p:cNvPr id="19" name="Shape 16"/>
          <p:cNvSpPr/>
          <p:nvPr/>
        </p:nvSpPr>
        <p:spPr>
          <a:xfrm>
            <a:off x="1007269" y="3441836"/>
            <a:ext cx="2143125" cy="1074409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20" name="Text 17"/>
          <p:cNvSpPr/>
          <p:nvPr/>
        </p:nvSpPr>
        <p:spPr>
          <a:xfrm>
            <a:off x="1007269" y="3441836"/>
            <a:ext cx="2143125" cy="1074409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予算判断</a:t>
            </a:r>
            <a:endParaRPr lang="en-US" sz="1193" dirty="0"/>
          </a:p>
        </p:txBody>
      </p:sp>
      <p:sp>
        <p:nvSpPr>
          <p:cNvPr id="21" name="Shape 18"/>
          <p:cNvSpPr/>
          <p:nvPr/>
        </p:nvSpPr>
        <p:spPr>
          <a:xfrm>
            <a:off x="3150394" y="3441836"/>
            <a:ext cx="5000625" cy="1074409"/>
          </a:xfrm>
          <a:prstGeom prst="rect">
            <a:avLst/>
          </a:prstGeom>
          <a:solidFill>
            <a:srgbClr val="F8FDFF"/>
          </a:solidFill>
          <a:ln/>
        </p:spPr>
      </p:sp>
      <p:sp>
        <p:nvSpPr>
          <p:cNvPr id="22" name="Text 19"/>
          <p:cNvSpPr/>
          <p:nvPr/>
        </p:nvSpPr>
        <p:spPr>
          <a:xfrm>
            <a:off x="3150394" y="3441836"/>
            <a:ext cx="5000625" cy="1074409"/>
          </a:xfrm>
          <a:prstGeom prst="rect">
            <a:avLst/>
          </a:prstGeom>
          <a:noFill/>
          <a:ln/>
        </p:spPr>
        <p:txBody>
          <a:bodyPr wrap="square" lIns="340233" tIns="340233" rIns="340233" bIns="340233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本PoCの結果に基づき、本番利用を見据えた本格導入の可否および論点を整理する。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3503005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今回確認すべき論点は5つ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1730239" y="1507331"/>
            <a:ext cx="25427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602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1939528"/>
            <a:ext cx="714375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784277"/>
            <a:ext cx="51435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接続性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1169705" y="3159323"/>
            <a:ext cx="1375311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 Serverの起動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1169705" y="3390770"/>
            <a:ext cx="1375311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Clientからの呼び出し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1169705" y="3622216"/>
            <a:ext cx="1375311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自社LLMとの連携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4444864" y="1507331"/>
            <a:ext cx="25427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602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1939528"/>
            <a:ext cx="714375" cy="571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00550" y="2784277"/>
            <a:ext cx="3429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3920133" y="3159323"/>
            <a:ext cx="130373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PATの有効性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3920133" y="3390770"/>
            <a:ext cx="130373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アクセス権限の制御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3920133" y="3622216"/>
            <a:ext cx="130373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認証情報の管理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7159489" y="1507331"/>
            <a:ext cx="25427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602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594" y="1939528"/>
            <a:ext cx="500063" cy="5715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1559" y="2784277"/>
            <a:ext cx="105013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6636544" y="3159323"/>
            <a:ext cx="1300163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送信データの範囲</a:t>
            </a:r>
            <a:endParaRPr lang="en-US" sz="942" dirty="0"/>
          </a:p>
        </p:txBody>
      </p:sp>
      <p:sp>
        <p:nvSpPr>
          <p:cNvPr id="23" name="Text 17"/>
          <p:cNvSpPr/>
          <p:nvPr/>
        </p:nvSpPr>
        <p:spPr>
          <a:xfrm>
            <a:off x="6636544" y="3390770"/>
            <a:ext cx="1300163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ローカル保管の有無</a:t>
            </a:r>
            <a:endParaRPr lang="en-US" sz="942" dirty="0"/>
          </a:p>
        </p:txBody>
      </p:sp>
      <p:sp>
        <p:nvSpPr>
          <p:cNvPr id="24" name="Text 18"/>
          <p:cNvSpPr/>
          <p:nvPr/>
        </p:nvSpPr>
        <p:spPr>
          <a:xfrm>
            <a:off x="6636544" y="3622216"/>
            <a:ext cx="1300163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ログの取得・管理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4857750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構成はシンプルな単一ユーザー前提</a:t>
            </a:r>
            <a:endParaRPr lang="en-US" sz="2121" dirty="0"/>
          </a:p>
        </p:txBody>
      </p:sp>
      <p:sp>
        <p:nvSpPr>
          <p:cNvPr id="7" name="Shape 4"/>
          <p:cNvSpPr/>
          <p:nvPr/>
        </p:nvSpPr>
        <p:spPr>
          <a:xfrm>
            <a:off x="1214438" y="1571625"/>
            <a:ext cx="1285875" cy="1285875"/>
          </a:xfrm>
          <a:prstGeom prst="ellipse">
            <a:avLst/>
          </a:prstGeom>
          <a:solidFill>
            <a:srgbClr val="00AEE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1928813"/>
            <a:ext cx="714375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5187" y="3071813"/>
            <a:ext cx="144437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自社LLM (Client)</a:t>
            </a:r>
            <a:endParaRPr lang="en-US" sz="1295" dirty="0"/>
          </a:p>
        </p:txBody>
      </p:sp>
      <p:sp>
        <p:nvSpPr>
          <p:cNvPr id="10" name="Text 6"/>
          <p:cNvSpPr/>
          <p:nvPr/>
        </p:nvSpPr>
        <p:spPr>
          <a:xfrm>
            <a:off x="714375" y="3429000"/>
            <a:ext cx="2286000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ユーザーの自然言語入力を受け取り、Tableau MCPを介してデータを要求する。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3929063" y="1571625"/>
            <a:ext cx="1285875" cy="1285875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Shape 8"/>
          <p:cNvSpPr/>
          <p:nvPr/>
        </p:nvSpPr>
        <p:spPr>
          <a:xfrm>
            <a:off x="4214813" y="1857375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406" y="2035969"/>
            <a:ext cx="357188" cy="357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95784" y="3071813"/>
            <a:ext cx="115243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Tableau MCP</a:t>
            </a:r>
            <a:endParaRPr lang="en-US" sz="1295" dirty="0"/>
          </a:p>
        </p:txBody>
      </p:sp>
      <p:sp>
        <p:nvSpPr>
          <p:cNvPr id="15" name="Text 10"/>
          <p:cNvSpPr/>
          <p:nvPr/>
        </p:nvSpPr>
        <p:spPr>
          <a:xfrm>
            <a:off x="3429000" y="3391495"/>
            <a:ext cx="2286000" cy="6171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 Serverとして動作し、LLMからの要求をTableau APIに変換する。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6643688" y="1571625"/>
            <a:ext cx="1285875" cy="1285875"/>
          </a:xfrm>
          <a:prstGeom prst="ellipse">
            <a:avLst/>
          </a:prstGeom>
          <a:solidFill>
            <a:srgbClr val="00AEE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38" y="1928813"/>
            <a:ext cx="714375" cy="571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53705" y="3071813"/>
            <a:ext cx="126581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Tableau Cloud</a:t>
            </a:r>
            <a:endParaRPr lang="en-US" sz="1295" dirty="0"/>
          </a:p>
        </p:txBody>
      </p:sp>
      <p:sp>
        <p:nvSpPr>
          <p:cNvPr id="19" name="Text 13"/>
          <p:cNvSpPr/>
          <p:nvPr/>
        </p:nvSpPr>
        <p:spPr>
          <a:xfrm>
            <a:off x="6143625" y="3391495"/>
            <a:ext cx="2286000" cy="411435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実際のデータソースとビューを保持し、要求されたデータを返す。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4221956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PoCの対象範囲は最小限に限定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714375" y="1143000"/>
            <a:ext cx="7715250" cy="2696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 Scope（今回やること）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714375" y="1626989"/>
            <a:ext cx="1000125" cy="31432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626989"/>
            <a:ext cx="1000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接続検証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1928813" y="1626989"/>
            <a:ext cx="4714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 Server/Clientの疎通確認、および自社LLMとのAPI連携可否の確認。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4375" y="2119908"/>
            <a:ext cx="1000125" cy="31432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2" name="Text 9"/>
          <p:cNvSpPr/>
          <p:nvPr/>
        </p:nvSpPr>
        <p:spPr>
          <a:xfrm>
            <a:off x="714375" y="2119908"/>
            <a:ext cx="1000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基本操作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1928813" y="2119908"/>
            <a:ext cx="56292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公開データソースを対象とした、自然言語による基本的なデータ取得と可視化の試行。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4375" y="2791420"/>
            <a:ext cx="7715250" cy="2696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 of Scope（今回やらないこと）</a:t>
            </a:r>
            <a:endParaRPr lang="en-US" sz="1397" dirty="0"/>
          </a:p>
        </p:txBody>
      </p:sp>
      <p:sp>
        <p:nvSpPr>
          <p:cNvPr id="15" name="Shape 12"/>
          <p:cNvSpPr/>
          <p:nvPr/>
        </p:nvSpPr>
        <p:spPr>
          <a:xfrm>
            <a:off x="714375" y="3275409"/>
            <a:ext cx="1000125" cy="31432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3275409"/>
            <a:ext cx="1000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本番運用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928813" y="3275409"/>
            <a:ext cx="48970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高可用性構成、詳細な監視設計、および組織全体への展開プロセスの策定。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4375" y="3768328"/>
            <a:ext cx="1000125" cy="31432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3768328"/>
            <a:ext cx="1000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認証統合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1928813" y="3768328"/>
            <a:ext cx="53452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既存の社内認証基盤（SSO等）との完全な統合や、複雑な権限マトリクスの実装。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452199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成立条件は権限と接続前提の確保</a:t>
            </a:r>
            <a:endParaRPr lang="en-US" sz="2121" dirty="0"/>
          </a:p>
        </p:txBody>
      </p:sp>
      <p:sp>
        <p:nvSpPr>
          <p:cNvPr id="7" name="Shape 4"/>
          <p:cNvSpPr/>
          <p:nvPr/>
        </p:nvSpPr>
        <p:spPr>
          <a:xfrm>
            <a:off x="650081" y="1150144"/>
            <a:ext cx="2286000" cy="1143000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8" name="Shape 5"/>
          <p:cNvSpPr/>
          <p:nvPr/>
        </p:nvSpPr>
        <p:spPr>
          <a:xfrm>
            <a:off x="650081" y="2286000"/>
            <a:ext cx="2286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50081" y="1150144"/>
            <a:ext cx="2286000" cy="1143000"/>
          </a:xfrm>
          <a:prstGeom prst="rect">
            <a:avLst/>
          </a:prstGeom>
          <a:noFill/>
          <a:ln/>
        </p:spPr>
        <p:txBody>
          <a:bodyPr wrap="square" lIns="340233" tIns="297688" rIns="340233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前提条件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2936081" y="1150144"/>
            <a:ext cx="5572125" cy="1143000"/>
          </a:xfrm>
          <a:prstGeom prst="rect">
            <a:avLst/>
          </a:prstGeom>
          <a:solidFill>
            <a:srgbClr val="F8FDFF"/>
          </a:solidFill>
          <a:ln/>
        </p:spPr>
      </p:sp>
      <p:sp>
        <p:nvSpPr>
          <p:cNvPr id="11" name="Shape 8"/>
          <p:cNvSpPr/>
          <p:nvPr/>
        </p:nvSpPr>
        <p:spPr>
          <a:xfrm>
            <a:off x="2936081" y="2286000"/>
            <a:ext cx="5572125" cy="7144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12" name="Text 9"/>
          <p:cNvSpPr/>
          <p:nvPr/>
        </p:nvSpPr>
        <p:spPr>
          <a:xfrm>
            <a:off x="3221831" y="1400175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Tableau Cloud/Serverへのネットワーク接続が許可されていること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21831" y="1643063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検証用端末にNode.js環境およびMCP実行環境が構築可能であること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21831" y="1885950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自社LLM APIへのアクセスキーが発行済みであること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0081" y="2293144"/>
            <a:ext cx="2286000" cy="1143000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50081" y="3429000"/>
            <a:ext cx="2286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50081" y="2293144"/>
            <a:ext cx="2286000" cy="1143000"/>
          </a:xfrm>
          <a:prstGeom prst="rect">
            <a:avLst/>
          </a:prstGeom>
          <a:noFill/>
          <a:ln/>
        </p:spPr>
        <p:txBody>
          <a:bodyPr wrap="square" lIns="340233" tIns="297688" rIns="340233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必要権限</a:t>
            </a:r>
            <a:endParaRPr lang="en-US" sz="1193" dirty="0"/>
          </a:p>
        </p:txBody>
      </p:sp>
      <p:sp>
        <p:nvSpPr>
          <p:cNvPr id="18" name="Shape 15"/>
          <p:cNvSpPr/>
          <p:nvPr/>
        </p:nvSpPr>
        <p:spPr>
          <a:xfrm>
            <a:off x="2936081" y="2293144"/>
            <a:ext cx="5572125" cy="1143000"/>
          </a:xfrm>
          <a:prstGeom prst="rect">
            <a:avLst/>
          </a:prstGeom>
          <a:solidFill>
            <a:srgbClr val="F8FDFF"/>
          </a:solidFill>
          <a:ln/>
        </p:spPr>
      </p:sp>
      <p:sp>
        <p:nvSpPr>
          <p:cNvPr id="19" name="Shape 16"/>
          <p:cNvSpPr/>
          <p:nvPr/>
        </p:nvSpPr>
        <p:spPr>
          <a:xfrm>
            <a:off x="2936081" y="3429000"/>
            <a:ext cx="5572125" cy="7144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20" name="Text 17"/>
          <p:cNvSpPr/>
          <p:nvPr/>
        </p:nvSpPr>
        <p:spPr>
          <a:xfrm>
            <a:off x="3221831" y="2543175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Tableau サイト管理者またはプロジェクト管理者権限（PAT発行用）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21831" y="2786063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対象データソースおよびビューへの「表示」および「ダウンロード」権限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21831" y="3028950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REST APIの利用がサイト設定で許可されていること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0081" y="3436144"/>
            <a:ext cx="2286000" cy="1143000"/>
          </a:xfrm>
          <a:prstGeom prst="rect">
            <a:avLst/>
          </a:prstGeom>
          <a:solidFill>
            <a:srgbClr val="E0F2FF"/>
          </a:solidFill>
          <a:ln/>
        </p:spPr>
      </p:sp>
      <p:sp>
        <p:nvSpPr>
          <p:cNvPr id="24" name="Text 21"/>
          <p:cNvSpPr/>
          <p:nvPr/>
        </p:nvSpPr>
        <p:spPr>
          <a:xfrm>
            <a:off x="650081" y="3436144"/>
            <a:ext cx="2286000" cy="1143000"/>
          </a:xfrm>
          <a:prstGeom prst="rect">
            <a:avLst/>
          </a:prstGeom>
          <a:noFill/>
          <a:ln/>
        </p:spPr>
        <p:txBody>
          <a:bodyPr wrap="square" lIns="340233" tIns="297688" rIns="340233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環境準備</a:t>
            </a:r>
            <a:endParaRPr lang="en-US" sz="1193" dirty="0"/>
          </a:p>
        </p:txBody>
      </p:sp>
      <p:sp>
        <p:nvSpPr>
          <p:cNvPr id="25" name="Shape 22"/>
          <p:cNvSpPr/>
          <p:nvPr/>
        </p:nvSpPr>
        <p:spPr>
          <a:xfrm>
            <a:off x="2936081" y="3436144"/>
            <a:ext cx="5572125" cy="1143000"/>
          </a:xfrm>
          <a:prstGeom prst="rect">
            <a:avLst/>
          </a:prstGeom>
          <a:solidFill>
            <a:srgbClr val="F8FDFF"/>
          </a:solidFill>
          <a:ln/>
        </p:spPr>
      </p:sp>
      <p:sp>
        <p:nvSpPr>
          <p:cNvPr id="26" name="Text 23"/>
          <p:cNvSpPr/>
          <p:nvPr/>
        </p:nvSpPr>
        <p:spPr>
          <a:xfrm>
            <a:off x="3221831" y="3686175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検証用PAT（個人用アクセストークン）の生成と有効期限設定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221831" y="3929063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接続先URL、サイトID、コンテンツLUIDの特定とリスト化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221831" y="4171950"/>
            <a:ext cx="5000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プロキシ環境下での実行が必要な場合の例外設定確認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3877382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短期PoCではPATが有力候補</a:t>
            </a:r>
            <a:endParaRPr lang="en-US" sz="2121" dirty="0"/>
          </a:p>
        </p:txBody>
      </p:sp>
      <p:sp>
        <p:nvSpPr>
          <p:cNvPr id="7" name="Shape 4"/>
          <p:cNvSpPr/>
          <p:nvPr/>
        </p:nvSpPr>
        <p:spPr>
          <a:xfrm>
            <a:off x="928688" y="1143000"/>
            <a:ext cx="3429000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7B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88" y="1448395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4715" y="2096691"/>
            <a:ext cx="2796946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PAT (個人用アクセストークン)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1814485" y="2437805"/>
            <a:ext cx="1657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RECOMMENDED FOR POC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1143000" y="2798564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実装が極めて容易で、即座に検証を開始可能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1143000" y="3137167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個人環境でのスコープ限定が明確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1143000" y="3475769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トークンのローカル管理が必要（漏洩リスク）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1143000" y="3814372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組織全体の運用には不向き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4786313" y="1143000"/>
            <a:ext cx="3429000" cy="3429000"/>
          </a:xfrm>
          <a:prstGeom prst="rect">
            <a:avLst/>
          </a:prstGeom>
          <a:solidFill>
            <a:srgbClr val="F8FDFF"/>
          </a:solidFill>
          <a:ln w="9144">
            <a:solidFill>
              <a:srgbClr val="E0F2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98564"/>
            <a:ext cx="128588" cy="231418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37167"/>
            <a:ext cx="128588" cy="231418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75769"/>
            <a:ext cx="80367" cy="231418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814372"/>
            <a:ext cx="80367" cy="231418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213" y="1448395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45057" y="2096691"/>
            <a:ext cx="191148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OAuth 2.0 / 認証統合</a:t>
            </a:r>
            <a:endParaRPr lang="en-US" sz="1397" dirty="0"/>
          </a:p>
        </p:txBody>
      </p:sp>
      <p:sp>
        <p:nvSpPr>
          <p:cNvPr id="22" name="Text 13"/>
          <p:cNvSpPr/>
          <p:nvPr/>
        </p:nvSpPr>
        <p:spPr>
          <a:xfrm>
            <a:off x="5687625" y="2437805"/>
            <a:ext cx="1626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CONSIDERATION</a:t>
            </a:r>
            <a:endParaRPr lang="en-US" sz="885" dirty="0"/>
          </a:p>
        </p:txBody>
      </p:sp>
      <p:sp>
        <p:nvSpPr>
          <p:cNvPr id="23" name="Text 14"/>
          <p:cNvSpPr/>
          <p:nvPr/>
        </p:nvSpPr>
        <p:spPr>
          <a:xfrm>
            <a:off x="5000625" y="2798564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組織的なセキュリティ統制に適合</a:t>
            </a:r>
            <a:endParaRPr lang="en-US" sz="942" dirty="0"/>
          </a:p>
        </p:txBody>
      </p:sp>
      <p:sp>
        <p:nvSpPr>
          <p:cNvPr id="24" name="Text 15"/>
          <p:cNvSpPr/>
          <p:nvPr/>
        </p:nvSpPr>
        <p:spPr>
          <a:xfrm>
            <a:off x="5000625" y="3137167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トークンの自動更新が可能で安全性が高い</a:t>
            </a:r>
            <a:endParaRPr lang="en-US" sz="942" dirty="0"/>
          </a:p>
        </p:txBody>
      </p:sp>
      <p:sp>
        <p:nvSpPr>
          <p:cNvPr id="25" name="Text 16"/>
          <p:cNvSpPr/>
          <p:nvPr/>
        </p:nvSpPr>
        <p:spPr>
          <a:xfrm>
            <a:off x="5000625" y="3475769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認証プロバイダとの連携設定に工数を要する</a:t>
            </a:r>
            <a:endParaRPr lang="en-US" sz="942" dirty="0"/>
          </a:p>
        </p:txBody>
      </p:sp>
      <p:sp>
        <p:nvSpPr>
          <p:cNvPr id="26" name="Text 17"/>
          <p:cNvSpPr/>
          <p:nvPr/>
        </p:nvSpPr>
        <p:spPr>
          <a:xfrm>
            <a:off x="5000625" y="3814372"/>
            <a:ext cx="3000375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PoC段階ではオーバースペックの可能性</a:t>
            </a:r>
            <a:endParaRPr lang="en-US" sz="942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798564"/>
            <a:ext cx="128588" cy="231418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137167"/>
            <a:ext cx="128588" cy="231418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3475769"/>
            <a:ext cx="80367" cy="231418"/>
          </a:xfrm>
          <a:prstGeom prst="rect">
            <a:avLst/>
          </a:prstGeom>
        </p:spPr>
      </p:pic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814372"/>
            <a:ext cx="80367" cy="231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5143500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最大の論点は情報送信とローカル保管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714375" y="1143000"/>
            <a:ext cx="771525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セキュリティ対策と検証後のクリーンアップ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714375" y="1955602"/>
            <a:ext cx="1000125" cy="33575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955602"/>
            <a:ext cx="1000125" cy="33575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2143125" y="1919883"/>
            <a:ext cx="62865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送信データの最小化とキャッシュ制御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143125" y="2223492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・LLMへの送信データはメタデータと公開情報に限定する。</a:t>
            </a: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・MCP Server側のローカルキャッシュ機能を無効化し、情報の残留を防ぐ。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4375" y="3002161"/>
            <a:ext cx="1000125" cy="33575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4375" y="3002161"/>
            <a:ext cx="1000125" cy="33575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143125" y="2966442"/>
            <a:ext cx="62865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検証終了後の確実なデータ削除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2143125" y="3270052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・PoC終了後、速やかにTableau上のPAT（個人用アクセストークン）を失効させる。</a:t>
            </a: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05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・検証端末内の設定ファイル、ログファイル、一時ファイルを物理的に削除する。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413879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主なリスクは5つに集約される</a:t>
            </a:r>
            <a:endParaRPr lang="en-US" sz="2121" dirty="0"/>
          </a:p>
        </p:txBody>
      </p:sp>
      <p:sp>
        <p:nvSpPr>
          <p:cNvPr id="7" name="Shape 4"/>
          <p:cNvSpPr/>
          <p:nvPr/>
        </p:nvSpPr>
        <p:spPr>
          <a:xfrm>
            <a:off x="535781" y="1071563"/>
            <a:ext cx="2571750" cy="1714500"/>
          </a:xfrm>
          <a:prstGeom prst="rect">
            <a:avLst/>
          </a:prstGeom>
          <a:solidFill>
            <a:srgbClr val="F8FDFF"/>
          </a:solidFill>
          <a:ln w="9144">
            <a:solidFill>
              <a:srgbClr val="E0F2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3" y="1262658"/>
            <a:ext cx="357188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656" y="1685925"/>
            <a:ext cx="2286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運用統制の限定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678656" y="1964531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個人環境のため、組織的な監査や共通ルールが未整備。次フェーズでの制度設計が必要。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286125" y="1071563"/>
            <a:ext cx="2571750" cy="1714500"/>
          </a:xfrm>
          <a:prstGeom prst="rect">
            <a:avLst/>
          </a:prstGeom>
          <a:solidFill>
            <a:srgbClr val="F8FDFF"/>
          </a:solidFill>
          <a:ln w="9144">
            <a:solidFill>
              <a:srgbClr val="E0F2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1262658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29000" y="1685925"/>
            <a:ext cx="2286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認証情報の残留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3429000" y="1964531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PATや接続情報がローカルに残るリスク。検証後の確実な削除手順が必須。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6036469" y="1071563"/>
            <a:ext cx="2571750" cy="1714500"/>
          </a:xfrm>
          <a:prstGeom prst="rect">
            <a:avLst/>
          </a:prstGeom>
          <a:solidFill>
            <a:srgbClr val="F8FDFF"/>
          </a:solidFill>
          <a:ln w="9144">
            <a:solidFill>
              <a:srgbClr val="E0F2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69" y="1262658"/>
            <a:ext cx="285750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79344" y="1685925"/>
            <a:ext cx="2286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不要な情報送信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6179344" y="1964531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LLMへの入力内容に機密情報が含まれる可能性。送信範囲の限定とガイドラインが必要。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1910953" y="2964656"/>
            <a:ext cx="2571750" cy="1714500"/>
          </a:xfrm>
          <a:prstGeom prst="rect">
            <a:avLst/>
          </a:prstGeom>
          <a:solidFill>
            <a:srgbClr val="F8FDFF"/>
          </a:solidFill>
          <a:ln w="9144">
            <a:solidFill>
              <a:srgbClr val="E0F2F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8234" y="3155752"/>
            <a:ext cx="357188" cy="2857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053828" y="3579019"/>
            <a:ext cx="2286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自然言語の解釈ずれ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2053828" y="385762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AIの解釈誤りによる分析結果の乖離。プロンプト調整と結果の人間による確認が前提。</a:t>
            </a:r>
            <a:endParaRPr lang="en-US" sz="834" dirty="0"/>
          </a:p>
        </p:txBody>
      </p:sp>
      <p:sp>
        <p:nvSpPr>
          <p:cNvPr id="23" name="Shape 16"/>
          <p:cNvSpPr/>
          <p:nvPr/>
        </p:nvSpPr>
        <p:spPr>
          <a:xfrm>
            <a:off x="4661297" y="2964656"/>
            <a:ext cx="2571750" cy="1714500"/>
          </a:xfrm>
          <a:prstGeom prst="rect">
            <a:avLst/>
          </a:prstGeom>
          <a:solidFill>
            <a:srgbClr val="F8FDFF"/>
          </a:solidFill>
          <a:ln w="9144">
            <a:solidFill>
              <a:srgbClr val="E0F2F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578" y="3155752"/>
            <a:ext cx="357188" cy="2857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04172" y="3579019"/>
            <a:ext cx="2286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公開範囲の限定</a:t>
            </a:r>
            <a:endParaRPr lang="en-US" sz="987" dirty="0"/>
          </a:p>
        </p:txBody>
      </p:sp>
      <p:sp>
        <p:nvSpPr>
          <p:cNvPr id="26" name="Text 18"/>
          <p:cNvSpPr/>
          <p:nvPr/>
        </p:nvSpPr>
        <p:spPr>
          <a:xfrm>
            <a:off x="4804172" y="3857625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公開コンテンツのみが対象。実業務への適用には、権限設計の再整理が不可欠。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1A5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107156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85875" y="154484"/>
            <a:ext cx="512206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完了条件は技術成立と論点整理の両立</a:t>
            </a:r>
            <a:endParaRPr lang="en-US" sz="2121" dirty="0"/>
          </a:p>
        </p:txBody>
      </p:sp>
      <p:sp>
        <p:nvSpPr>
          <p:cNvPr id="7" name="Shape 4"/>
          <p:cNvSpPr/>
          <p:nvPr/>
        </p:nvSpPr>
        <p:spPr>
          <a:xfrm>
            <a:off x="571500" y="1571625"/>
            <a:ext cx="714375" cy="714375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571625"/>
            <a:ext cx="714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614363" y="2464594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0" y="2784277"/>
            <a:ext cx="1857375" cy="365727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Node.js環境およびMCP Serverのセットアップ完了。</a:t>
            </a:r>
            <a:endParaRPr lang="en-US" sz="834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152" y="1821656"/>
            <a:ext cx="133945" cy="21431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00375" y="1571625"/>
            <a:ext cx="714375" cy="714375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13" name="Text 9"/>
          <p:cNvSpPr/>
          <p:nvPr/>
        </p:nvSpPr>
        <p:spPr>
          <a:xfrm>
            <a:off x="3000375" y="1571625"/>
            <a:ext cx="714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808" dirty="0"/>
          </a:p>
        </p:txBody>
      </p:sp>
      <p:sp>
        <p:nvSpPr>
          <p:cNvPr id="14" name="Text 10"/>
          <p:cNvSpPr/>
          <p:nvPr/>
        </p:nvSpPr>
        <p:spPr>
          <a:xfrm>
            <a:off x="3043238" y="2464594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接続成立</a:t>
            </a:r>
            <a:endParaRPr lang="en-US" sz="1090" dirty="0"/>
          </a:p>
        </p:txBody>
      </p:sp>
      <p:sp>
        <p:nvSpPr>
          <p:cNvPr id="15" name="Text 11"/>
          <p:cNvSpPr/>
          <p:nvPr/>
        </p:nvSpPr>
        <p:spPr>
          <a:xfrm>
            <a:off x="2428875" y="2784277"/>
            <a:ext cx="1857375" cy="365727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自社LLMからTableau MCP経由でデータ取得が成功。</a:t>
            </a:r>
            <a:endParaRPr lang="en-US" sz="834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027" y="1821656"/>
            <a:ext cx="133945" cy="21431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29250" y="1571625"/>
            <a:ext cx="714375" cy="714375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18" name="Text 13"/>
          <p:cNvSpPr/>
          <p:nvPr/>
        </p:nvSpPr>
        <p:spPr>
          <a:xfrm>
            <a:off x="5429250" y="1571625"/>
            <a:ext cx="714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808" dirty="0"/>
          </a:p>
        </p:txBody>
      </p:sp>
      <p:sp>
        <p:nvSpPr>
          <p:cNvPr id="19" name="Text 14"/>
          <p:cNvSpPr/>
          <p:nvPr/>
        </p:nvSpPr>
        <p:spPr>
          <a:xfrm>
            <a:off x="5472113" y="2464594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検証実施</a:t>
            </a:r>
            <a:endParaRPr lang="en-US" sz="1090" dirty="0"/>
          </a:p>
        </p:txBody>
      </p:sp>
      <p:sp>
        <p:nvSpPr>
          <p:cNvPr id="20" name="Text 15"/>
          <p:cNvSpPr/>
          <p:nvPr/>
        </p:nvSpPr>
        <p:spPr>
          <a:xfrm>
            <a:off x="4857750" y="2784277"/>
            <a:ext cx="1857375" cy="365727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自然言語による分析ユースケースの試行と記録。</a:t>
            </a:r>
            <a:endParaRPr lang="en-US" sz="834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902" y="1821656"/>
            <a:ext cx="133945" cy="214313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858125" y="1571625"/>
            <a:ext cx="714375" cy="714375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23" name="Text 17"/>
          <p:cNvSpPr/>
          <p:nvPr/>
        </p:nvSpPr>
        <p:spPr>
          <a:xfrm>
            <a:off x="7858125" y="1571625"/>
            <a:ext cx="714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808" dirty="0"/>
          </a:p>
        </p:txBody>
      </p:sp>
      <p:sp>
        <p:nvSpPr>
          <p:cNvPr id="24" name="Text 18"/>
          <p:cNvSpPr/>
          <p:nvPr/>
        </p:nvSpPr>
        <p:spPr>
          <a:xfrm>
            <a:off x="7900988" y="2464594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論点整理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7286625" y="2784277"/>
            <a:ext cx="1857375" cy="365727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セキュリティ懸念点と次フェーズ課題の文書化。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0" y="4502348"/>
            <a:ext cx="91440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技術的な疎通だけでなく、</a:t>
            </a:r>
            <a:r>
              <a:rPr lang="en-US" sz="109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「次フェーズの投資判断材料」</a:t>
            </a:r>
            <a:r>
              <a:rPr lang="en-US" sz="109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が揃った時点でPoC完了とする。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2987" y="1777901"/>
            <a:ext cx="5197999" cy="8215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182" b="1" spc="12" kern="0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THANK YOU</a:t>
            </a:r>
            <a:endParaRPr lang="en-US" sz="5182" dirty="0"/>
          </a:p>
        </p:txBody>
      </p:sp>
      <p:sp>
        <p:nvSpPr>
          <p:cNvPr id="4" name="Text 1"/>
          <p:cNvSpPr/>
          <p:nvPr/>
        </p:nvSpPr>
        <p:spPr>
          <a:xfrm>
            <a:off x="2602083" y="2770882"/>
            <a:ext cx="3939778" cy="45184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次の判断は小さく始めて見極めること</a:t>
            </a:r>
            <a:endParaRPr lang="en-US" sz="16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2026-04-16T23:28:09Z</dcterms:created>
  <dcterms:modified xsi:type="dcterms:W3CDTF">2026-04-16T23:28:09Z</dcterms:modified>
</cp:coreProperties>
</file>