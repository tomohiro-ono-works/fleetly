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9e82682be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9e82682b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05134778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05134778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05134778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05134778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05134778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05134778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05134778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05134778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05134778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05134778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05134778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05134778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fd9f671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fd9f671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e82682be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e82682be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e82682be_1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9e82682be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9e82682b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9e82682b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9e82682be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9e82682be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9e82682be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9e82682be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9e82682be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9e82682be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9e82682be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9e82682be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9e82682be_1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d9e82682be_1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9e82682be_1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9e82682be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9e82682be_1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9e82682be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9e82682be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d9e82682be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93900" y="2279250"/>
            <a:ext cx="6556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rgbClr val="08090F"/>
                </a:solidFill>
                <a:latin typeface="Meiryo"/>
                <a:ea typeface="Meiryo"/>
                <a:cs typeface="Meiryo"/>
                <a:sym typeface="Meiryo"/>
              </a:rPr>
              <a:t>RPA ETLツールを自作してみた話(</a:t>
            </a:r>
            <a:r>
              <a:rPr b="1" lang="ja" sz="2600">
                <a:solidFill>
                  <a:srgbClr val="08090F"/>
                </a:solidFill>
                <a:latin typeface="Meiryo"/>
                <a:ea typeface="Meiryo"/>
                <a:cs typeface="Meiryo"/>
                <a:sym typeface="Meiryo"/>
              </a:rPr>
              <a:t>ziz ai)</a:t>
            </a:r>
            <a:endParaRPr b="1" sz="2300">
              <a:solidFill>
                <a:srgbClr val="08090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287175" y="160750"/>
            <a:ext cx="1718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solidFill>
                  <a:srgbClr val="08090F"/>
                </a:solidFill>
                <a:latin typeface="Meiryo"/>
                <a:ea typeface="Meiryo"/>
                <a:cs typeface="Meiryo"/>
                <a:sym typeface="Meiryo"/>
              </a:rPr>
              <a:t>自己紹介</a:t>
            </a:r>
            <a:endParaRPr b="1" sz="2300">
              <a:solidFill>
                <a:srgbClr val="08090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>
            <a:off x="0" y="0"/>
            <a:ext cx="9144000" cy="7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latin typeface="Meiryo"/>
                <a:ea typeface="Meiryo"/>
                <a:cs typeface="Meiryo"/>
                <a:sym typeface="Meiryo"/>
              </a:rPr>
              <a:t>Q1. なぜ、RPA、ETLをつくったか？</a:t>
            </a:r>
            <a:endParaRPr b="1" sz="26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237575" y="922225"/>
            <a:ext cx="8730300" cy="1354800"/>
          </a:xfrm>
          <a:prstGeom prst="rect">
            <a:avLst/>
          </a:prstGeom>
          <a:solidFill>
            <a:srgbClr val="F6F5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latin typeface="Meiryo"/>
                <a:ea typeface="Meiryo"/>
                <a:cs typeface="Meiryo"/>
                <a:sym typeface="Meiryo"/>
              </a:rPr>
              <a:t>Ans</a:t>
            </a:r>
            <a:r>
              <a:rPr b="1" lang="ja" sz="2700">
                <a:latin typeface="Meiryo"/>
                <a:ea typeface="Meiryo"/>
                <a:cs typeface="Meiryo"/>
                <a:sym typeface="Meiryo"/>
              </a:rPr>
              <a:t>. </a:t>
            </a:r>
            <a:endParaRPr b="1" sz="2700"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latin typeface="Meiryo"/>
                <a:ea typeface="Meiryo"/>
                <a:cs typeface="Meiryo"/>
                <a:sym typeface="Meiryo"/>
              </a:rPr>
              <a:t>①権限やツールの許可が下りなかった</a:t>
            </a:r>
            <a:endParaRPr b="1" sz="2700"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700">
                <a:latin typeface="Meiryo"/>
                <a:ea typeface="Meiryo"/>
                <a:cs typeface="Meiryo"/>
                <a:sym typeface="Meiryo"/>
              </a:rPr>
              <a:t>②業務領域シフト</a:t>
            </a:r>
            <a:endParaRPr b="1" sz="2700"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/>
          <p:nvPr/>
        </p:nvSpPr>
        <p:spPr>
          <a:xfrm>
            <a:off x="0" y="0"/>
            <a:ext cx="9144000" cy="7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latin typeface="Meiryo"/>
                <a:ea typeface="Meiryo"/>
                <a:cs typeface="Meiryo"/>
                <a:sym typeface="Meiryo"/>
              </a:rPr>
              <a:t>画面こんなかんじです。</a:t>
            </a:r>
            <a:endParaRPr b="1" sz="2600"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50" y="821875"/>
            <a:ext cx="8011316" cy="426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0" y="0"/>
            <a:ext cx="9144000" cy="7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latin typeface="Meiryo"/>
                <a:ea typeface="Meiryo"/>
                <a:cs typeface="Meiryo"/>
                <a:sym typeface="Meiryo"/>
              </a:rPr>
              <a:t>画面こんなかんじです。</a:t>
            </a:r>
            <a:endParaRPr b="1" sz="2600"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225" y="1143350"/>
            <a:ext cx="287655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4000" y="1202575"/>
            <a:ext cx="28956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>
            <a:off x="0" y="0"/>
            <a:ext cx="9144000" cy="7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latin typeface="Meiryo"/>
                <a:ea typeface="Meiryo"/>
                <a:cs typeface="Meiryo"/>
                <a:sym typeface="Meiryo"/>
              </a:rPr>
              <a:t>画面こんなかんじです。</a:t>
            </a:r>
            <a:endParaRPr b="1" sz="2600"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50" y="821875"/>
            <a:ext cx="8011316" cy="4262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2653" y="1568600"/>
            <a:ext cx="4536727" cy="31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13971" y="1274375"/>
            <a:ext cx="5357149" cy="33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62225" y="631900"/>
            <a:ext cx="5819550" cy="38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" y="508559"/>
            <a:ext cx="9143998" cy="5040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6296" y="321975"/>
            <a:ext cx="89377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0" y="0"/>
            <a:ext cx="9144000" cy="72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2600">
                <a:latin typeface="Meiryo"/>
                <a:ea typeface="Meiryo"/>
                <a:cs typeface="Meiryo"/>
                <a:sym typeface="Meiryo"/>
              </a:rPr>
              <a:t>画面こんなかんじです。</a:t>
            </a:r>
            <a:endParaRPr b="1" sz="2600"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8700"/>
            <a:ext cx="8839201" cy="2777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125" y="1862085"/>
            <a:ext cx="9143999" cy="2925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50" y="2350028"/>
            <a:ext cx="9144000" cy="2660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48034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/>
          <p:nvPr/>
        </p:nvSpPr>
        <p:spPr>
          <a:xfrm>
            <a:off x="152400" y="346800"/>
            <a:ext cx="287700" cy="4644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482450" y="346800"/>
            <a:ext cx="1438500" cy="4644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152400" y="152400"/>
            <a:ext cx="7248000" cy="19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>
            <a:off x="1920950" y="380950"/>
            <a:ext cx="5479500" cy="19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1963300" y="609500"/>
            <a:ext cx="3400800" cy="2809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/>
          <p:nvPr/>
        </p:nvSpPr>
        <p:spPr>
          <a:xfrm>
            <a:off x="5406450" y="609500"/>
            <a:ext cx="1994100" cy="4381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1926225" y="3419000"/>
            <a:ext cx="3400800" cy="1572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7436200" y="-3627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F0000"/>
                </a:solidFill>
              </a:rPr>
              <a:t>①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67800" y="2484850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F0000"/>
                </a:solidFill>
              </a:rPr>
              <a:t>②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905450" y="361012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F0000"/>
                </a:solidFill>
              </a:rPr>
              <a:t>③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7478750" y="247300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F0000"/>
                </a:solidFill>
              </a:rPr>
              <a:t>④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3435250" y="160942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F0000"/>
                </a:solidFill>
              </a:rPr>
              <a:t>⑤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841425" y="4358950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F0000"/>
                </a:solidFill>
              </a:rPr>
              <a:t>⑥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6015700" y="3022425"/>
            <a:ext cx="4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rgbClr val="FF0000"/>
                </a:solidFill>
              </a:rPr>
              <a:t>⑦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489800" y="1182450"/>
            <a:ext cx="8034600" cy="386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/>
              <a:t>わたしの思い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/>
              <a:t>・月100人月働きたい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/>
              <a:t>・全案件の要件定義に加わりたい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/>
              <a:t>・全部自分で作りたい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/>
              <a:t>・品質を整え、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/>
              <a:t>・作ってからスタート、成果的成果に寄与したい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/>
              <a:t>・時空を超えたい</a:t>
            </a:r>
            <a:endParaRPr sz="2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/>
          <p:nvPr/>
        </p:nvSpPr>
        <p:spPr>
          <a:xfrm>
            <a:off x="1812400" y="3247309"/>
            <a:ext cx="1531800" cy="5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Meiryo"/>
                <a:ea typeface="Meiryo"/>
                <a:cs typeface="Meiryo"/>
                <a:sym typeface="Meiryo"/>
              </a:rPr>
              <a:t>ジュニア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7" name="Google Shape;127;p22"/>
          <p:cNvSpPr/>
          <p:nvPr/>
        </p:nvSpPr>
        <p:spPr>
          <a:xfrm>
            <a:off x="3691527" y="3247309"/>
            <a:ext cx="1531800" cy="5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Meiryo"/>
                <a:ea typeface="Meiryo"/>
                <a:cs typeface="Meiryo"/>
                <a:sym typeface="Meiryo"/>
              </a:rPr>
              <a:t>ミドル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3691522" y="2317496"/>
            <a:ext cx="1531800" cy="5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Meiryo"/>
                <a:ea typeface="Meiryo"/>
                <a:cs typeface="Meiryo"/>
                <a:sym typeface="Meiryo"/>
              </a:rPr>
              <a:t>リーダー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5570649" y="3247316"/>
            <a:ext cx="1531800" cy="5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Meiryo"/>
                <a:ea typeface="Meiryo"/>
                <a:cs typeface="Meiryo"/>
                <a:sym typeface="Meiryo"/>
              </a:rPr>
              <a:t>シニア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0" name="Google Shape;130;p22"/>
          <p:cNvSpPr/>
          <p:nvPr/>
        </p:nvSpPr>
        <p:spPr>
          <a:xfrm>
            <a:off x="5621925" y="4149100"/>
            <a:ext cx="1332000" cy="20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Meiryo"/>
                <a:ea typeface="Meiryo"/>
                <a:cs typeface="Meiryo"/>
                <a:sym typeface="Meiryo"/>
              </a:rPr>
              <a:t>スペシャリスト軸</a:t>
            </a:r>
            <a:endParaRPr sz="10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31" name="Google Shape;131;p22"/>
          <p:cNvSpPr/>
          <p:nvPr/>
        </p:nvSpPr>
        <p:spPr>
          <a:xfrm>
            <a:off x="3691522" y="1387675"/>
            <a:ext cx="1531800" cy="50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200">
                <a:latin typeface="Meiryo"/>
                <a:ea typeface="Meiryo"/>
                <a:cs typeface="Meiryo"/>
                <a:sym typeface="Meiryo"/>
              </a:rPr>
              <a:t>お客さん</a:t>
            </a:r>
            <a:endParaRPr sz="1200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32" name="Google Shape;132;p22"/>
          <p:cNvCxnSpPr/>
          <p:nvPr/>
        </p:nvCxnSpPr>
        <p:spPr>
          <a:xfrm flipH="1" rot="10800000">
            <a:off x="1553050" y="1387700"/>
            <a:ext cx="18300" cy="23886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2"/>
          <p:cNvCxnSpPr/>
          <p:nvPr/>
        </p:nvCxnSpPr>
        <p:spPr>
          <a:xfrm>
            <a:off x="1824175" y="4057275"/>
            <a:ext cx="5266500" cy="1290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2"/>
          <p:cNvSpPr/>
          <p:nvPr/>
        </p:nvSpPr>
        <p:spPr>
          <a:xfrm rot="-5400000">
            <a:off x="695125" y="2057100"/>
            <a:ext cx="1332000" cy="205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000">
                <a:latin typeface="Meiryo"/>
                <a:ea typeface="Meiryo"/>
                <a:cs typeface="Meiryo"/>
                <a:sym typeface="Meiryo"/>
              </a:rPr>
              <a:t>マネジメント</a:t>
            </a:r>
            <a:r>
              <a:rPr lang="ja" sz="1000">
                <a:latin typeface="Meiryo"/>
                <a:ea typeface="Meiryo"/>
                <a:cs typeface="Meiryo"/>
                <a:sym typeface="Meiryo"/>
              </a:rPr>
              <a:t>軸</a:t>
            </a:r>
            <a:endParaRPr sz="1000">
              <a:latin typeface="Meiryo"/>
              <a:ea typeface="Meiryo"/>
              <a:cs typeface="Meiryo"/>
              <a:sym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140" name="Google Shape;140;p23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</a:t>
            </a: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2" name="Google Shape;142;p23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3" name="Google Shape;143;p23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5" name="Google Shape;145;p23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6" name="Google Shape;146;p23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7" name="Google Shape;147;p23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49" name="Google Shape;149;p23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</a:t>
            </a: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50" name="Google Shape;150;p23"/>
          <p:cNvCxnSpPr>
            <a:stCxn id="142" idx="3"/>
            <a:endCxn id="144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3"/>
          <p:cNvCxnSpPr>
            <a:stCxn id="143" idx="0"/>
            <a:endCxn id="142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3"/>
          <p:cNvCxnSpPr>
            <a:stCxn id="144" idx="2"/>
            <a:endCxn id="145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23"/>
          <p:cNvCxnSpPr>
            <a:stCxn id="145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3"/>
          <p:cNvCxnSpPr>
            <a:stCxn id="143" idx="3"/>
            <a:endCxn id="145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3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6" name="Google Shape;156;p23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58" name="Google Shape;158;p23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159" name="Google Shape;159;p23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160" name="Google Shape;160;p23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166" name="Google Shape;166;p24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7" name="Google Shape;167;p24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69" name="Google Shape;169;p24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0" name="Google Shape;170;p24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1" name="Google Shape;171;p24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2" name="Google Shape;172;p24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4" name="Google Shape;174;p24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176" name="Google Shape;176;p24"/>
          <p:cNvCxnSpPr>
            <a:stCxn id="168" idx="3"/>
            <a:endCxn id="170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4"/>
          <p:cNvCxnSpPr>
            <a:stCxn id="169" idx="0"/>
            <a:endCxn id="168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8" name="Google Shape;178;p24"/>
          <p:cNvCxnSpPr>
            <a:stCxn id="170" idx="2"/>
            <a:endCxn id="171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24"/>
          <p:cNvCxnSpPr>
            <a:stCxn id="171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4"/>
          <p:cNvCxnSpPr>
            <a:stCxn id="169" idx="3"/>
            <a:endCxn id="171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4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2" name="Google Shape;182;p24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3" name="Google Shape;183;p24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84" name="Google Shape;184;p24"/>
          <p:cNvSpPr/>
          <p:nvPr/>
        </p:nvSpPr>
        <p:spPr>
          <a:xfrm>
            <a:off x="538025" y="919918"/>
            <a:ext cx="8581325" cy="3843775"/>
          </a:xfrm>
          <a:custGeom>
            <a:rect b="b" l="l" r="r" t="t"/>
            <a:pathLst>
              <a:path extrusionOk="0" h="153751" w="343253">
                <a:moveTo>
                  <a:pt x="72901" y="4130"/>
                </a:moveTo>
                <a:cubicBezTo>
                  <a:pt x="57606" y="-2671"/>
                  <a:pt x="38336" y="-218"/>
                  <a:pt x="22713" y="5791"/>
                </a:cubicBezTo>
                <a:cubicBezTo>
                  <a:pt x="16465" y="8194"/>
                  <a:pt x="8879" y="9098"/>
                  <a:pt x="4432" y="14101"/>
                </a:cubicBezTo>
                <a:cubicBezTo>
                  <a:pt x="-3777" y="23338"/>
                  <a:pt x="619" y="41148"/>
                  <a:pt x="8088" y="50994"/>
                </a:cubicBezTo>
                <a:cubicBezTo>
                  <a:pt x="19860" y="66512"/>
                  <a:pt x="41558" y="73953"/>
                  <a:pt x="60936" y="75923"/>
                </a:cubicBezTo>
                <a:cubicBezTo>
                  <a:pt x="76592" y="77515"/>
                  <a:pt x="93712" y="76257"/>
                  <a:pt x="107468" y="83900"/>
                </a:cubicBezTo>
                <a:cubicBezTo>
                  <a:pt x="131245" y="97110"/>
                  <a:pt x="132046" y="140685"/>
                  <a:pt x="158321" y="147716"/>
                </a:cubicBezTo>
                <a:cubicBezTo>
                  <a:pt x="194496" y="157396"/>
                  <a:pt x="233792" y="153925"/>
                  <a:pt x="270664" y="147383"/>
                </a:cubicBezTo>
                <a:cubicBezTo>
                  <a:pt x="295674" y="142946"/>
                  <a:pt x="327394" y="138586"/>
                  <a:pt x="340463" y="116805"/>
                </a:cubicBezTo>
                <a:cubicBezTo>
                  <a:pt x="346566" y="106633"/>
                  <a:pt x="340893" y="92973"/>
                  <a:pt x="339133" y="81241"/>
                </a:cubicBezTo>
                <a:cubicBezTo>
                  <a:pt x="336134" y="61247"/>
                  <a:pt x="326135" y="41038"/>
                  <a:pt x="311214" y="27396"/>
                </a:cubicBezTo>
                <a:cubicBezTo>
                  <a:pt x="301314" y="18344"/>
                  <a:pt x="287101" y="14935"/>
                  <a:pt x="273988" y="12107"/>
                </a:cubicBezTo>
                <a:cubicBezTo>
                  <a:pt x="230732" y="2777"/>
                  <a:pt x="185621" y="6124"/>
                  <a:pt x="141370" y="6124"/>
                </a:cubicBezTo>
                <a:cubicBezTo>
                  <a:pt x="117831" y="6124"/>
                  <a:pt x="90499" y="14519"/>
                  <a:pt x="70907" y="1471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5" name="Google Shape;185;p24"/>
          <p:cNvSpPr/>
          <p:nvPr/>
        </p:nvSpPr>
        <p:spPr>
          <a:xfrm>
            <a:off x="474580" y="3245757"/>
            <a:ext cx="2828675" cy="1725425"/>
          </a:xfrm>
          <a:custGeom>
            <a:rect b="b" l="l" r="r" t="t"/>
            <a:pathLst>
              <a:path extrusionOk="0" h="69017" w="113147">
                <a:moveTo>
                  <a:pt x="66465" y="58671"/>
                </a:moveTo>
                <a:cubicBezTo>
                  <a:pt x="53303" y="60552"/>
                  <a:pt x="39827" y="59478"/>
                  <a:pt x="26580" y="58339"/>
                </a:cubicBezTo>
                <a:cubicBezTo>
                  <a:pt x="20041" y="57777"/>
                  <a:pt x="12660" y="55931"/>
                  <a:pt x="8299" y="51026"/>
                </a:cubicBezTo>
                <a:cubicBezTo>
                  <a:pt x="2852" y="44899"/>
                  <a:pt x="-958" y="35858"/>
                  <a:pt x="322" y="27760"/>
                </a:cubicBezTo>
                <a:cubicBezTo>
                  <a:pt x="1367" y="21148"/>
                  <a:pt x="5227" y="14876"/>
                  <a:pt x="9961" y="10144"/>
                </a:cubicBezTo>
                <a:cubicBezTo>
                  <a:pt x="16806" y="3301"/>
                  <a:pt x="28299" y="3536"/>
                  <a:pt x="37881" y="2167"/>
                </a:cubicBezTo>
                <a:cubicBezTo>
                  <a:pt x="62248" y="-1314"/>
                  <a:pt x="100209" y="-3271"/>
                  <a:pt x="109674" y="19451"/>
                </a:cubicBezTo>
                <a:cubicBezTo>
                  <a:pt x="113424" y="28453"/>
                  <a:pt x="115308" y="41255"/>
                  <a:pt x="109009" y="48700"/>
                </a:cubicBezTo>
                <a:cubicBezTo>
                  <a:pt x="101179" y="57954"/>
                  <a:pt x="89736" y="65397"/>
                  <a:pt x="77766" y="67313"/>
                </a:cubicBezTo>
                <a:cubicBezTo>
                  <a:pt x="74238" y="67878"/>
                  <a:pt x="70520" y="69771"/>
                  <a:pt x="67130" y="68642"/>
                </a:cubicBezTo>
                <a:cubicBezTo>
                  <a:pt x="63321" y="67374"/>
                  <a:pt x="62324" y="62175"/>
                  <a:pt x="59485" y="59336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6" name="Google Shape;186;p24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再利用性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188" name="Google Shape;188;p24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/>
        </p:nvSpPr>
        <p:spPr>
          <a:xfrm>
            <a:off x="332350" y="1728325"/>
            <a:ext cx="2574000" cy="1316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import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pandas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pd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Excelファイルを指定して読み込む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pd.read_excel(</a:t>
            </a:r>
            <a:r>
              <a:rPr lang="ja" sz="1050">
                <a:solidFill>
                  <a:srgbClr val="188038"/>
                </a:solidFill>
                <a:highlight>
                  <a:srgbClr val="F0F2F5"/>
                </a:highlight>
              </a:rPr>
              <a:t>'sample.xlsx'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最初の5行を表示して中身を確認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print(df.head())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</p:txBody>
      </p:sp>
      <p:sp>
        <p:nvSpPr>
          <p:cNvPr id="194" name="Google Shape;194;p25"/>
          <p:cNvSpPr txBox="1"/>
          <p:nvPr/>
        </p:nvSpPr>
        <p:spPr>
          <a:xfrm>
            <a:off x="3334738" y="1728325"/>
            <a:ext cx="2574000" cy="201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ファイルパスを変数に格納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file_path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</a:t>
            </a:r>
            <a:r>
              <a:rPr lang="ja" sz="1050">
                <a:solidFill>
                  <a:srgbClr val="188038"/>
                </a:solidFill>
                <a:highlight>
                  <a:srgbClr val="F0F2F5"/>
                </a:highlight>
              </a:rPr>
              <a:t>'sample.xlsx'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import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pandas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pd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変数を使って読み込み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pd.read_excel(file_path)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データの確認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print(df.head())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195" name="Google Shape;195;p25"/>
          <p:cNvSpPr/>
          <p:nvPr/>
        </p:nvSpPr>
        <p:spPr>
          <a:xfrm>
            <a:off x="3323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通常のコード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6" name="Google Shape;196;p25"/>
          <p:cNvSpPr/>
          <p:nvPr/>
        </p:nvSpPr>
        <p:spPr>
          <a:xfrm>
            <a:off x="33347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抽象化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6445263" y="1728325"/>
            <a:ext cx="2574000" cy="717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ファイルパスを変数に格納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file_path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</a:t>
            </a:r>
            <a:r>
              <a:rPr lang="ja" sz="1050">
                <a:solidFill>
                  <a:srgbClr val="188038"/>
                </a:solidFill>
                <a:highlight>
                  <a:srgbClr val="F0F2F5"/>
                </a:highlight>
              </a:rPr>
              <a:t>'sample.xlsx'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198" name="Google Shape;198;p25"/>
          <p:cNvSpPr/>
          <p:nvPr/>
        </p:nvSpPr>
        <p:spPr>
          <a:xfrm>
            <a:off x="6445275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分離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6445263" y="2657425"/>
            <a:ext cx="2574000" cy="1089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import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pandas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as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pd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変数を使って読み込み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B45908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= pd.read_excel(file_path)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ja" sz="1050">
                <a:solidFill>
                  <a:srgbClr val="80868B"/>
                </a:solidFill>
                <a:highlight>
                  <a:srgbClr val="F0F2F5"/>
                </a:highlight>
              </a:rPr>
              <a:t># データの確認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print(df.head())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200" name="Google Shape;200;p25"/>
          <p:cNvSpPr/>
          <p:nvPr/>
        </p:nvSpPr>
        <p:spPr>
          <a:xfrm>
            <a:off x="2933650" y="2333425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5"/>
          <p:cNvSpPr/>
          <p:nvPr/>
        </p:nvSpPr>
        <p:spPr>
          <a:xfrm>
            <a:off x="5990100" y="2296650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5"/>
          <p:cNvSpPr/>
          <p:nvPr/>
        </p:nvSpPr>
        <p:spPr>
          <a:xfrm>
            <a:off x="6363900" y="660600"/>
            <a:ext cx="1171500" cy="57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パラメータ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の分離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203" name="Google Shape;203;p25"/>
          <p:cNvSpPr/>
          <p:nvPr/>
        </p:nvSpPr>
        <p:spPr>
          <a:xfrm>
            <a:off x="7897450" y="660600"/>
            <a:ext cx="1171500" cy="57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機密情報</a:t>
            </a:r>
            <a:endParaRPr b="1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の分離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204" name="Google Shape;204;p25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再利用性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05" name="Google Shape;205;p25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206" name="Google Shape;206;p25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212" name="Google Shape;212;p26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3" name="Google Shape;213;p26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4" name="Google Shape;214;p26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5" name="Google Shape;215;p26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6" name="Google Shape;216;p26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7" name="Google Shape;217;p26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8" name="Google Shape;218;p26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19" name="Google Shape;219;p26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0" name="Google Shape;220;p26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1" name="Google Shape;221;p26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22" name="Google Shape;222;p26"/>
          <p:cNvCxnSpPr>
            <a:stCxn id="214" idx="3"/>
            <a:endCxn id="216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26"/>
          <p:cNvCxnSpPr>
            <a:stCxn id="215" idx="0"/>
            <a:endCxn id="214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26"/>
          <p:cNvCxnSpPr>
            <a:stCxn id="216" idx="2"/>
            <a:endCxn id="217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6"/>
          <p:cNvCxnSpPr>
            <a:stCxn id="217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6"/>
          <p:cNvCxnSpPr>
            <a:stCxn id="215" idx="3"/>
            <a:endCxn id="217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7" name="Google Shape;227;p26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8" name="Google Shape;228;p26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29" name="Google Shape;229;p26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30" name="Google Shape;230;p26"/>
          <p:cNvSpPr/>
          <p:nvPr/>
        </p:nvSpPr>
        <p:spPr>
          <a:xfrm>
            <a:off x="3924922" y="2731685"/>
            <a:ext cx="2034025" cy="1739850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1" name="Google Shape;231;p26"/>
          <p:cNvSpPr/>
          <p:nvPr/>
        </p:nvSpPr>
        <p:spPr>
          <a:xfrm>
            <a:off x="6650534" y="2749985"/>
            <a:ext cx="2034025" cy="1739850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2" name="Google Shape;232;p26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233" name="Google Shape;233;p26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拡張性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34" name="Google Shape;234;p26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/>
        </p:nvSpPr>
        <p:spPr>
          <a:xfrm>
            <a:off x="332350" y="1728325"/>
            <a:ext cx="2574000" cy="1364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highlight>
                  <a:srgbClr val="F0F2F5"/>
                </a:highlight>
              </a:rPr>
              <a:t>①Excelをdfとして取得</a:t>
            </a:r>
            <a:endParaRPr sz="1050"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↓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②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df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を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BigQuery</a:t>
            </a: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取り込みテーブル化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↓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③テーブルを用いてSQL実行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 ↓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④データをExcelで出力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3334738" y="1728325"/>
            <a:ext cx="2574000" cy="2293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# Excel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①Excelをdfとして取得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④データをExcelで出力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# BigQuery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②dfをBigQuery取り込みテーブル化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③テーブルを用いてSQL実行</a:t>
            </a:r>
            <a:endParaRPr i="1" sz="1050">
              <a:solidFill>
                <a:srgbClr val="80868B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# </a:t>
            </a: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コアプログラム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①→②→③→④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3323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通常のコード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2" name="Google Shape;242;p27"/>
          <p:cNvSpPr/>
          <p:nvPr/>
        </p:nvSpPr>
        <p:spPr>
          <a:xfrm>
            <a:off x="3334750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抽象化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3" name="Google Shape;243;p27"/>
          <p:cNvSpPr txBox="1"/>
          <p:nvPr/>
        </p:nvSpPr>
        <p:spPr>
          <a:xfrm>
            <a:off x="6445263" y="1728325"/>
            <a:ext cx="2574000" cy="669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# Excelモジュール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①Excelをdfとして取得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④データをExcelで出力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</p:txBody>
      </p:sp>
      <p:sp>
        <p:nvSpPr>
          <p:cNvPr id="244" name="Google Shape;244;p27"/>
          <p:cNvSpPr/>
          <p:nvPr/>
        </p:nvSpPr>
        <p:spPr>
          <a:xfrm>
            <a:off x="6445275" y="1315625"/>
            <a:ext cx="2574000" cy="2808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分離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45" name="Google Shape;245;p27"/>
          <p:cNvSpPr/>
          <p:nvPr/>
        </p:nvSpPr>
        <p:spPr>
          <a:xfrm>
            <a:off x="2933650" y="2333425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5990100" y="2296650"/>
            <a:ext cx="373800" cy="324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"/>
          <p:cNvSpPr/>
          <p:nvPr/>
        </p:nvSpPr>
        <p:spPr>
          <a:xfrm>
            <a:off x="6494950" y="660600"/>
            <a:ext cx="2574000" cy="5787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FF9900"/>
                </a:solidFill>
              </a:rPr>
              <a:t>開発</a:t>
            </a:r>
            <a:r>
              <a:rPr b="1" lang="ja">
                <a:solidFill>
                  <a:srgbClr val="FF9900"/>
                </a:solidFill>
              </a:rPr>
              <a:t>の分離</a:t>
            </a:r>
            <a:endParaRPr b="1">
              <a:solidFill>
                <a:srgbClr val="FF9900"/>
              </a:solidFill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6445254" y="2579213"/>
            <a:ext cx="2574000" cy="69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# BigQuery</a:t>
            </a:r>
            <a:r>
              <a:rPr lang="ja" sz="1050">
                <a:solidFill>
                  <a:schemeClr val="dk1"/>
                </a:solidFill>
                <a:highlight>
                  <a:srgbClr val="F0F2F5"/>
                </a:highlight>
              </a:rPr>
              <a:t>モジュール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②dfをBigQuery取り込みテーブル化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" sz="1050">
                <a:solidFill>
                  <a:srgbClr val="0A0A0A"/>
                </a:solidFill>
                <a:highlight>
                  <a:srgbClr val="F0F2F5"/>
                </a:highlight>
              </a:rPr>
              <a:t>③テーブルを用いてSQL実行</a:t>
            </a:r>
            <a:endParaRPr sz="1050">
              <a:solidFill>
                <a:schemeClr val="dk1"/>
              </a:solidFill>
              <a:highlight>
                <a:srgbClr val="F0F2F5"/>
              </a:highlight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6445279" y="3454400"/>
            <a:ext cx="2574000" cy="532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# コアプログラム</a:t>
            </a:r>
            <a:endParaRPr sz="1050">
              <a:solidFill>
                <a:srgbClr val="9334E6"/>
              </a:solidFill>
              <a:highlight>
                <a:srgbClr val="F0F2F5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" sz="1050">
                <a:solidFill>
                  <a:srgbClr val="9334E6"/>
                </a:solidFill>
                <a:highlight>
                  <a:srgbClr val="F0F2F5"/>
                </a:highlight>
              </a:rPr>
              <a:t>①→②→③→④</a:t>
            </a:r>
            <a:endParaRPr sz="1050">
              <a:solidFill>
                <a:srgbClr val="0A0A0A"/>
              </a:solidFill>
              <a:highlight>
                <a:srgbClr val="F0F2F5"/>
              </a:highlight>
            </a:endParaRPr>
          </a:p>
        </p:txBody>
      </p:sp>
      <p:sp>
        <p:nvSpPr>
          <p:cNvPr id="250" name="Google Shape;250;p27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251" name="Google Shape;251;p27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拡張性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  <p:pic>
        <p:nvPicPr>
          <p:cNvPr id="253" name="Google Shape;2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25" y="3319900"/>
            <a:ext cx="1624164" cy="1745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906425" y="1338925"/>
            <a:ext cx="8259500" cy="3282200"/>
          </a:xfrm>
          <a:custGeom>
            <a:rect b="b" l="l" r="r" t="t"/>
            <a:pathLst>
              <a:path extrusionOk="0" h="131288" w="330380">
                <a:moveTo>
                  <a:pt x="0" y="332"/>
                </a:moveTo>
                <a:lnTo>
                  <a:pt x="0" y="69134"/>
                </a:lnTo>
                <a:lnTo>
                  <a:pt x="103700" y="69134"/>
                </a:lnTo>
                <a:lnTo>
                  <a:pt x="103700" y="131288"/>
                </a:lnTo>
                <a:lnTo>
                  <a:pt x="330380" y="131288"/>
                </a:lnTo>
                <a:lnTo>
                  <a:pt x="330380" y="0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259" name="Google Shape;259;p28"/>
          <p:cNvSpPr/>
          <p:nvPr/>
        </p:nvSpPr>
        <p:spPr>
          <a:xfrm>
            <a:off x="3842450" y="1598225"/>
            <a:ext cx="5040900" cy="2707200"/>
          </a:xfrm>
          <a:prstGeom prst="rect">
            <a:avLst/>
          </a:prstGeom>
          <a:solidFill>
            <a:srgbClr val="D9EAD3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バックエンド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0" name="Google Shape;260;p28"/>
          <p:cNvSpPr/>
          <p:nvPr/>
        </p:nvSpPr>
        <p:spPr>
          <a:xfrm>
            <a:off x="1255400" y="1598225"/>
            <a:ext cx="2252100" cy="1278000"/>
          </a:xfrm>
          <a:prstGeom prst="rect">
            <a:avLst/>
          </a:prstGeom>
          <a:solidFill>
            <a:srgbClr val="FFF2CC">
              <a:alpha val="8500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800">
                <a:latin typeface="Meiryo"/>
                <a:ea typeface="Meiryo"/>
                <a:cs typeface="Meiryo"/>
                <a:sym typeface="Meiryo"/>
              </a:rPr>
              <a:t>フロントエンド</a:t>
            </a:r>
            <a:endParaRPr b="1" sz="80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1" name="Google Shape;261;p28"/>
          <p:cNvSpPr/>
          <p:nvPr/>
        </p:nvSpPr>
        <p:spPr>
          <a:xfrm>
            <a:off x="1396649" y="2052400"/>
            <a:ext cx="1960800" cy="4998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フロント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2" name="Google Shape;262;p28"/>
          <p:cNvSpPr/>
          <p:nvPr/>
        </p:nvSpPr>
        <p:spPr>
          <a:xfrm>
            <a:off x="931324" y="3565007"/>
            <a:ext cx="1960800" cy="4998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設定ファイル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4022471" y="2052400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WebView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4" name="Google Shape;264;p28"/>
          <p:cNvSpPr/>
          <p:nvPr/>
        </p:nvSpPr>
        <p:spPr>
          <a:xfrm>
            <a:off x="4022471" y="3343907"/>
            <a:ext cx="19608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コアプログラムna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5" name="Google Shape;265;p28"/>
          <p:cNvSpPr/>
          <p:nvPr/>
        </p:nvSpPr>
        <p:spPr>
          <a:xfrm>
            <a:off x="6822800" y="30651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6" name="Google Shape;266;p28"/>
          <p:cNvSpPr/>
          <p:nvPr/>
        </p:nvSpPr>
        <p:spPr>
          <a:xfrm>
            <a:off x="6936441" y="32175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7" name="Google Shape;267;p28"/>
          <p:cNvSpPr/>
          <p:nvPr/>
        </p:nvSpPr>
        <p:spPr>
          <a:xfrm>
            <a:off x="7050082" y="33699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68" name="Google Shape;268;p28"/>
          <p:cNvSpPr/>
          <p:nvPr/>
        </p:nvSpPr>
        <p:spPr>
          <a:xfrm>
            <a:off x="7163723" y="3522388"/>
            <a:ext cx="1462200" cy="4998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latin typeface="Meiryo"/>
                <a:ea typeface="Meiryo"/>
                <a:cs typeface="Meiryo"/>
                <a:sym typeface="Meiryo"/>
              </a:rPr>
              <a:t>内部モジュール</a:t>
            </a:r>
            <a:endParaRPr b="1">
              <a:latin typeface="Meiryo"/>
              <a:ea typeface="Meiryo"/>
              <a:cs typeface="Meiryo"/>
              <a:sym typeface="Meiryo"/>
            </a:endParaRPr>
          </a:p>
        </p:txBody>
      </p:sp>
      <p:cxnSp>
        <p:nvCxnSpPr>
          <p:cNvPr id="269" name="Google Shape;269;p28"/>
          <p:cNvCxnSpPr>
            <a:stCxn id="261" idx="3"/>
            <a:endCxn id="263" idx="1"/>
          </p:cNvCxnSpPr>
          <p:nvPr/>
        </p:nvCxnSpPr>
        <p:spPr>
          <a:xfrm>
            <a:off x="3357449" y="2302300"/>
            <a:ext cx="665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0" name="Google Shape;270;p28"/>
          <p:cNvCxnSpPr>
            <a:stCxn id="262" idx="0"/>
            <a:endCxn id="261" idx="2"/>
          </p:cNvCxnSpPr>
          <p:nvPr/>
        </p:nvCxnSpPr>
        <p:spPr>
          <a:xfrm flipH="1" rot="10800000">
            <a:off x="1911724" y="2552207"/>
            <a:ext cx="465300" cy="101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1" name="Google Shape;271;p28"/>
          <p:cNvCxnSpPr>
            <a:stCxn id="263" idx="2"/>
            <a:endCxn id="264" idx="0"/>
          </p:cNvCxnSpPr>
          <p:nvPr/>
        </p:nvCxnSpPr>
        <p:spPr>
          <a:xfrm>
            <a:off x="5002871" y="2552200"/>
            <a:ext cx="0" cy="79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8"/>
          <p:cNvCxnSpPr>
            <a:stCxn id="264" idx="3"/>
          </p:cNvCxnSpPr>
          <p:nvPr/>
        </p:nvCxnSpPr>
        <p:spPr>
          <a:xfrm flipH="1" rot="10800000">
            <a:off x="5983271" y="3590807"/>
            <a:ext cx="1088700" cy="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3" name="Google Shape;273;p28"/>
          <p:cNvCxnSpPr>
            <a:stCxn id="262" idx="3"/>
            <a:endCxn id="264" idx="1"/>
          </p:cNvCxnSpPr>
          <p:nvPr/>
        </p:nvCxnSpPr>
        <p:spPr>
          <a:xfrm flipH="1" rot="10800000">
            <a:off x="2892124" y="3593807"/>
            <a:ext cx="1130400" cy="22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4" name="Google Shape;274;p28"/>
          <p:cNvSpPr/>
          <p:nvPr/>
        </p:nvSpPr>
        <p:spPr>
          <a:xfrm>
            <a:off x="740225" y="1215900"/>
            <a:ext cx="1495800" cy="2910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100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rPr>
              <a:t>アプリケーション</a:t>
            </a:r>
            <a:endParaRPr b="1" sz="1100">
              <a:solidFill>
                <a:schemeClr val="lt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369125" y="1919450"/>
            <a:ext cx="8381400" cy="7884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GUI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369125" y="2967544"/>
            <a:ext cx="8381400" cy="11988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rPr>
              <a:t>CLI</a:t>
            </a:r>
            <a:endParaRPr b="1">
              <a:solidFill>
                <a:srgbClr val="999999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277" name="Google Shape;277;p28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278" name="Google Shape;278;p28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279" name="Google Shape;279;p28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1800">
                <a:solidFill>
                  <a:srgbClr val="FF0000"/>
                </a:solidFill>
              </a:rPr>
              <a:t>容易性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280" name="Google Shape;280;p28"/>
          <p:cNvSpPr/>
          <p:nvPr/>
        </p:nvSpPr>
        <p:spPr>
          <a:xfrm>
            <a:off x="1226092" y="1367300"/>
            <a:ext cx="4927832" cy="1739850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50" y="468150"/>
            <a:ext cx="8203625" cy="42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30"/>
          <p:cNvPicPr preferRelativeResize="0"/>
          <p:nvPr/>
        </p:nvPicPr>
        <p:blipFill rotWithShape="1">
          <a:blip r:embed="rId3">
            <a:alphaModFix/>
          </a:blip>
          <a:srcRect b="57988" l="0" r="0" t="0"/>
          <a:stretch/>
        </p:blipFill>
        <p:spPr>
          <a:xfrm>
            <a:off x="715275" y="279875"/>
            <a:ext cx="3817602" cy="3221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 rotWithShape="1">
          <a:blip r:embed="rId3">
            <a:alphaModFix/>
          </a:blip>
          <a:srcRect b="0" l="0" r="0" t="41266"/>
          <a:stretch/>
        </p:blipFill>
        <p:spPr>
          <a:xfrm>
            <a:off x="4907923" y="319526"/>
            <a:ext cx="3817602" cy="4504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31"/>
          <p:cNvCxnSpPr>
            <a:stCxn id="297" idx="3"/>
          </p:cNvCxnSpPr>
          <p:nvPr/>
        </p:nvCxnSpPr>
        <p:spPr>
          <a:xfrm>
            <a:off x="1575775" y="1893825"/>
            <a:ext cx="4332900" cy="7581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98" name="Google Shape;298;p31"/>
          <p:cNvGrpSpPr/>
          <p:nvPr/>
        </p:nvGrpSpPr>
        <p:grpSpPr>
          <a:xfrm>
            <a:off x="2137337" y="1498411"/>
            <a:ext cx="5174278" cy="2002953"/>
            <a:chOff x="369125" y="1215900"/>
            <a:chExt cx="8796800" cy="3405225"/>
          </a:xfrm>
        </p:grpSpPr>
        <p:sp>
          <p:nvSpPr>
            <p:cNvPr id="299" name="Google Shape;299;p31"/>
            <p:cNvSpPr/>
            <p:nvPr/>
          </p:nvSpPr>
          <p:spPr>
            <a:xfrm>
              <a:off x="906425" y="1338925"/>
              <a:ext cx="8259500" cy="3282200"/>
            </a:xfrm>
            <a:custGeom>
              <a:rect b="b" l="l" r="r" t="t"/>
              <a:pathLst>
                <a:path extrusionOk="0" h="131288" w="330380">
                  <a:moveTo>
                    <a:pt x="0" y="332"/>
                  </a:moveTo>
                  <a:lnTo>
                    <a:pt x="0" y="69134"/>
                  </a:lnTo>
                  <a:lnTo>
                    <a:pt x="103700" y="69134"/>
                  </a:lnTo>
                  <a:lnTo>
                    <a:pt x="103700" y="131288"/>
                  </a:lnTo>
                  <a:lnTo>
                    <a:pt x="330380" y="131288"/>
                  </a:lnTo>
                  <a:lnTo>
                    <a:pt x="330380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</p:sp>
        <p:sp>
          <p:nvSpPr>
            <p:cNvPr id="300" name="Google Shape;300;p31"/>
            <p:cNvSpPr/>
            <p:nvPr/>
          </p:nvSpPr>
          <p:spPr>
            <a:xfrm>
              <a:off x="3842450" y="1598225"/>
              <a:ext cx="5040900" cy="2707200"/>
            </a:xfrm>
            <a:prstGeom prst="rect">
              <a:avLst/>
            </a:prstGeom>
            <a:solidFill>
              <a:srgbClr val="D9EAD3">
                <a:alpha val="85000"/>
              </a:srgbClr>
            </a:solidFill>
            <a:ln>
              <a:noFill/>
            </a:ln>
          </p:spPr>
          <p:txBody>
            <a:bodyPr anchorCtr="0" anchor="t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471">
                  <a:latin typeface="Meiryo"/>
                  <a:ea typeface="Meiryo"/>
                  <a:cs typeface="Meiryo"/>
                  <a:sym typeface="Meiryo"/>
                </a:rPr>
                <a:t>バックエンド</a:t>
              </a:r>
              <a:endParaRPr b="1" sz="471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1" name="Google Shape;301;p31"/>
            <p:cNvSpPr/>
            <p:nvPr/>
          </p:nvSpPr>
          <p:spPr>
            <a:xfrm>
              <a:off x="1255400" y="1598225"/>
              <a:ext cx="2252100" cy="1278000"/>
            </a:xfrm>
            <a:prstGeom prst="rect">
              <a:avLst/>
            </a:prstGeom>
            <a:solidFill>
              <a:srgbClr val="FFF2CC">
                <a:alpha val="85000"/>
              </a:srgbClr>
            </a:solidFill>
            <a:ln>
              <a:noFill/>
            </a:ln>
          </p:spPr>
          <p:txBody>
            <a:bodyPr anchorCtr="0" anchor="t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471">
                  <a:latin typeface="Meiryo"/>
                  <a:ea typeface="Meiryo"/>
                  <a:cs typeface="Meiryo"/>
                  <a:sym typeface="Meiryo"/>
                </a:rPr>
                <a:t>フロントエンド</a:t>
              </a:r>
              <a:endParaRPr b="1" sz="471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2" name="Google Shape;302;p31"/>
            <p:cNvSpPr/>
            <p:nvPr/>
          </p:nvSpPr>
          <p:spPr>
            <a:xfrm>
              <a:off x="1396649" y="2052400"/>
              <a:ext cx="1960800" cy="499800"/>
            </a:xfrm>
            <a:prstGeom prst="rect">
              <a:avLst/>
            </a:prstGeom>
            <a:solidFill>
              <a:srgbClr val="FFE599"/>
            </a:solidFill>
            <a:ln cap="flat" cmpd="sng" w="560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フロント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931324" y="3565007"/>
              <a:ext cx="1960800" cy="499800"/>
            </a:xfrm>
            <a:prstGeom prst="rect">
              <a:avLst/>
            </a:prstGeom>
            <a:solidFill>
              <a:srgbClr val="A4C2F4"/>
            </a:solidFill>
            <a:ln cap="flat" cmpd="sng" w="5600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設定ファイル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4022471" y="2052400"/>
              <a:ext cx="19608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WebView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5" name="Google Shape;305;p31"/>
            <p:cNvSpPr/>
            <p:nvPr/>
          </p:nvSpPr>
          <p:spPr>
            <a:xfrm>
              <a:off x="4022471" y="3343907"/>
              <a:ext cx="19608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コアプログラムna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6" name="Google Shape;306;p31"/>
            <p:cNvSpPr/>
            <p:nvPr/>
          </p:nvSpPr>
          <p:spPr>
            <a:xfrm>
              <a:off x="6822800" y="30651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7" name="Google Shape;307;p31"/>
            <p:cNvSpPr/>
            <p:nvPr/>
          </p:nvSpPr>
          <p:spPr>
            <a:xfrm>
              <a:off x="6936441" y="32175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8" name="Google Shape;308;p31"/>
            <p:cNvSpPr/>
            <p:nvPr/>
          </p:nvSpPr>
          <p:spPr>
            <a:xfrm>
              <a:off x="7050082" y="33699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09" name="Google Shape;309;p31"/>
            <p:cNvSpPr/>
            <p:nvPr/>
          </p:nvSpPr>
          <p:spPr>
            <a:xfrm>
              <a:off x="7163723" y="3522388"/>
              <a:ext cx="1462200" cy="499800"/>
            </a:xfrm>
            <a:prstGeom prst="rect">
              <a:avLst/>
            </a:prstGeom>
            <a:solidFill>
              <a:srgbClr val="B6D7A8"/>
            </a:solidFill>
            <a:ln cap="flat" cmpd="sng" w="56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latin typeface="Meiryo"/>
                  <a:ea typeface="Meiryo"/>
                  <a:cs typeface="Meiryo"/>
                  <a:sym typeface="Meiryo"/>
                </a:rPr>
                <a:t>内部モジュール</a:t>
              </a:r>
              <a:endParaRPr b="1" sz="824">
                <a:latin typeface="Meiryo"/>
                <a:ea typeface="Meiryo"/>
                <a:cs typeface="Meiryo"/>
                <a:sym typeface="Meiryo"/>
              </a:endParaRPr>
            </a:p>
          </p:txBody>
        </p:sp>
        <p:cxnSp>
          <p:nvCxnSpPr>
            <p:cNvPr id="310" name="Google Shape;310;p31"/>
            <p:cNvCxnSpPr>
              <a:stCxn id="302" idx="3"/>
              <a:endCxn id="304" idx="1"/>
            </p:cNvCxnSpPr>
            <p:nvPr/>
          </p:nvCxnSpPr>
          <p:spPr>
            <a:xfrm>
              <a:off x="3357449" y="2302300"/>
              <a:ext cx="665100" cy="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1" name="Google Shape;311;p31"/>
            <p:cNvCxnSpPr>
              <a:stCxn id="303" idx="0"/>
              <a:endCxn id="302" idx="2"/>
            </p:cNvCxnSpPr>
            <p:nvPr/>
          </p:nvCxnSpPr>
          <p:spPr>
            <a:xfrm flipH="1" rot="10800000">
              <a:off x="1911724" y="2552207"/>
              <a:ext cx="465300" cy="10128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2" name="Google Shape;312;p31"/>
            <p:cNvCxnSpPr>
              <a:stCxn id="304" idx="2"/>
              <a:endCxn id="305" idx="0"/>
            </p:cNvCxnSpPr>
            <p:nvPr/>
          </p:nvCxnSpPr>
          <p:spPr>
            <a:xfrm>
              <a:off x="5002871" y="2552200"/>
              <a:ext cx="0" cy="7917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3" name="Google Shape;313;p31"/>
            <p:cNvCxnSpPr>
              <a:stCxn id="305" idx="3"/>
            </p:cNvCxnSpPr>
            <p:nvPr/>
          </p:nvCxnSpPr>
          <p:spPr>
            <a:xfrm flipH="1" rot="10800000">
              <a:off x="5983271" y="3590807"/>
              <a:ext cx="1088700" cy="30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14" name="Google Shape;314;p31"/>
            <p:cNvCxnSpPr>
              <a:stCxn id="303" idx="3"/>
              <a:endCxn id="305" idx="1"/>
            </p:cNvCxnSpPr>
            <p:nvPr/>
          </p:nvCxnSpPr>
          <p:spPr>
            <a:xfrm flipH="1" rot="10800000">
              <a:off x="2892124" y="3593807"/>
              <a:ext cx="1130400" cy="221100"/>
            </a:xfrm>
            <a:prstGeom prst="straightConnector1">
              <a:avLst/>
            </a:prstGeom>
            <a:noFill/>
            <a:ln cap="flat" cmpd="sng" w="112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15" name="Google Shape;315;p31"/>
            <p:cNvSpPr/>
            <p:nvPr/>
          </p:nvSpPr>
          <p:spPr>
            <a:xfrm>
              <a:off x="740225" y="1215900"/>
              <a:ext cx="1495800" cy="291000"/>
            </a:xfrm>
            <a:prstGeom prst="rect">
              <a:avLst/>
            </a:prstGeom>
            <a:solidFill>
              <a:srgbClr val="666666"/>
            </a:solidFill>
            <a:ln>
              <a:noFill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647">
                  <a:solidFill>
                    <a:schemeClr val="lt1"/>
                  </a:solidFill>
                  <a:latin typeface="Meiryo"/>
                  <a:ea typeface="Meiryo"/>
                  <a:cs typeface="Meiryo"/>
                  <a:sym typeface="Meiryo"/>
                </a:rPr>
                <a:t>アプリケーション</a:t>
              </a:r>
              <a:endParaRPr b="1" sz="647">
                <a:solidFill>
                  <a:schemeClr val="lt1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369125" y="1919450"/>
              <a:ext cx="8381400" cy="788400"/>
            </a:xfrm>
            <a:prstGeom prst="rect">
              <a:avLst/>
            </a:prstGeom>
            <a:noFill/>
            <a:ln cap="flat" cmpd="sng" w="56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solidFill>
                    <a:srgbClr val="999999"/>
                  </a:solidFill>
                  <a:latin typeface="Meiryo"/>
                  <a:ea typeface="Meiryo"/>
                  <a:cs typeface="Meiryo"/>
                  <a:sym typeface="Meiryo"/>
                </a:rPr>
                <a:t>GUI</a:t>
              </a:r>
              <a:endParaRPr b="1" sz="824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  <p:sp>
          <p:nvSpPr>
            <p:cNvPr id="317" name="Google Shape;317;p31"/>
            <p:cNvSpPr/>
            <p:nvPr/>
          </p:nvSpPr>
          <p:spPr>
            <a:xfrm>
              <a:off x="369125" y="2967544"/>
              <a:ext cx="8381400" cy="1198800"/>
            </a:xfrm>
            <a:prstGeom prst="rect">
              <a:avLst/>
            </a:prstGeom>
            <a:noFill/>
            <a:ln cap="flat" cmpd="sng" w="5600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775" lIns="53775" spcFirstLastPara="1" rIns="53775" wrap="square" tIns="53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ja" sz="824">
                  <a:solidFill>
                    <a:srgbClr val="999999"/>
                  </a:solidFill>
                  <a:latin typeface="Meiryo"/>
                  <a:ea typeface="Meiryo"/>
                  <a:cs typeface="Meiryo"/>
                  <a:sym typeface="Meiryo"/>
                </a:rPr>
                <a:t>CLI</a:t>
              </a:r>
              <a:endParaRPr b="1" sz="824">
                <a:solidFill>
                  <a:srgbClr val="999999"/>
                </a:solidFill>
                <a:latin typeface="Meiryo"/>
                <a:ea typeface="Meiryo"/>
                <a:cs typeface="Meiryo"/>
                <a:sym typeface="Meiryo"/>
              </a:endParaRPr>
            </a:p>
          </p:txBody>
        </p:sp>
      </p:grpSp>
      <p:sp>
        <p:nvSpPr>
          <p:cNvPr id="318" name="Google Shape;318;p31"/>
          <p:cNvSpPr/>
          <p:nvPr/>
        </p:nvSpPr>
        <p:spPr>
          <a:xfrm>
            <a:off x="576900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再利用性</a:t>
            </a:r>
            <a:endParaRPr sz="1800"/>
          </a:p>
        </p:txBody>
      </p:sp>
      <p:sp>
        <p:nvSpPr>
          <p:cNvPr id="319" name="Google Shape;319;p31"/>
          <p:cNvSpPr/>
          <p:nvPr/>
        </p:nvSpPr>
        <p:spPr>
          <a:xfrm>
            <a:off x="3465677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/>
              <a:t>拡張性</a:t>
            </a:r>
            <a:endParaRPr sz="1800"/>
          </a:p>
        </p:txBody>
      </p:sp>
      <p:sp>
        <p:nvSpPr>
          <p:cNvPr id="320" name="Google Shape;320;p31"/>
          <p:cNvSpPr/>
          <p:nvPr/>
        </p:nvSpPr>
        <p:spPr>
          <a:xfrm>
            <a:off x="6232929" y="171300"/>
            <a:ext cx="2517600" cy="3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1800">
                <a:solidFill>
                  <a:schemeClr val="dk1"/>
                </a:solidFill>
              </a:rPr>
              <a:t>容易性</a:t>
            </a:r>
            <a:endParaRPr sz="1800"/>
          </a:p>
        </p:txBody>
      </p:sp>
      <p:pic>
        <p:nvPicPr>
          <p:cNvPr id="321" name="Google Shape;3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8400" y="421577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4850" y="416095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750" y="440747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6200" y="435265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2575" y="421577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9025" y="416095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475" y="1553225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925" y="1498400"/>
            <a:ext cx="790850" cy="7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6700" y="1343750"/>
            <a:ext cx="526450" cy="6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3150" y="1288925"/>
            <a:ext cx="790850" cy="790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0" name="Google Shape;330;p31"/>
          <p:cNvCxnSpPr>
            <a:stCxn id="327" idx="2"/>
          </p:cNvCxnSpPr>
          <p:nvPr/>
        </p:nvCxnSpPr>
        <p:spPr>
          <a:xfrm flipH="1" rot="10800000">
            <a:off x="521700" y="2169825"/>
            <a:ext cx="2221200" cy="498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31"/>
          <p:cNvCxnSpPr>
            <a:stCxn id="321" idx="0"/>
          </p:cNvCxnSpPr>
          <p:nvPr/>
        </p:nvCxnSpPr>
        <p:spPr>
          <a:xfrm flipH="1" rot="10800000">
            <a:off x="1061625" y="2302675"/>
            <a:ext cx="1797600" cy="1913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2" name="Google Shape;332;p31"/>
          <p:cNvCxnSpPr>
            <a:stCxn id="323" idx="0"/>
          </p:cNvCxnSpPr>
          <p:nvPr/>
        </p:nvCxnSpPr>
        <p:spPr>
          <a:xfrm rot="10800000">
            <a:off x="3033475" y="2344375"/>
            <a:ext cx="1429500" cy="2063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3" name="Google Shape;333;p31"/>
          <p:cNvCxnSpPr/>
          <p:nvPr/>
        </p:nvCxnSpPr>
        <p:spPr>
          <a:xfrm rot="10800000">
            <a:off x="3689975" y="2352575"/>
            <a:ext cx="3473400" cy="1961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31"/>
          <p:cNvCxnSpPr/>
          <p:nvPr/>
        </p:nvCxnSpPr>
        <p:spPr>
          <a:xfrm flipH="1">
            <a:off x="3955875" y="1571575"/>
            <a:ext cx="3747600" cy="5151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31"/>
          <p:cNvCxnSpPr/>
          <p:nvPr/>
        </p:nvCxnSpPr>
        <p:spPr>
          <a:xfrm flipH="1" rot="10800000">
            <a:off x="1945075" y="3025575"/>
            <a:ext cx="4055100" cy="11967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31"/>
          <p:cNvCxnSpPr/>
          <p:nvPr/>
        </p:nvCxnSpPr>
        <p:spPr>
          <a:xfrm flipH="1" rot="10800000">
            <a:off x="5351925" y="3178025"/>
            <a:ext cx="800700" cy="11772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31"/>
          <p:cNvCxnSpPr/>
          <p:nvPr/>
        </p:nvCxnSpPr>
        <p:spPr>
          <a:xfrm rot="10800000">
            <a:off x="6847700" y="3258325"/>
            <a:ext cx="872400" cy="9141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31"/>
          <p:cNvCxnSpPr>
            <a:endCxn id="317" idx="3"/>
          </p:cNvCxnSpPr>
          <p:nvPr/>
        </p:nvCxnSpPr>
        <p:spPr>
          <a:xfrm flipH="1">
            <a:off x="7067276" y="2036795"/>
            <a:ext cx="1383900" cy="8445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31"/>
          <p:cNvSpPr/>
          <p:nvPr/>
        </p:nvSpPr>
        <p:spPr>
          <a:xfrm>
            <a:off x="2435350" y="1646376"/>
            <a:ext cx="1894491" cy="1005633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340" name="Google Shape;340;p31"/>
          <p:cNvSpPr/>
          <p:nvPr/>
        </p:nvSpPr>
        <p:spPr>
          <a:xfrm>
            <a:off x="5517050" y="2495751"/>
            <a:ext cx="1894491" cy="1005633"/>
          </a:xfrm>
          <a:custGeom>
            <a:rect b="b" l="l" r="r" t="t"/>
            <a:pathLst>
              <a:path extrusionOk="0" h="69594" w="81361">
                <a:moveTo>
                  <a:pt x="62398" y="66604"/>
                </a:moveTo>
                <a:cubicBezTo>
                  <a:pt x="44039" y="66604"/>
                  <a:pt x="20398" y="64264"/>
                  <a:pt x="10215" y="48988"/>
                </a:cubicBezTo>
                <a:cubicBezTo>
                  <a:pt x="2836" y="37919"/>
                  <a:pt x="-5399" y="17859"/>
                  <a:pt x="4897" y="9435"/>
                </a:cubicBezTo>
                <a:cubicBezTo>
                  <a:pt x="21217" y="-3917"/>
                  <a:pt x="54697" y="-3229"/>
                  <a:pt x="68048" y="13091"/>
                </a:cubicBezTo>
                <a:cubicBezTo>
                  <a:pt x="76946" y="23967"/>
                  <a:pt x="83435" y="39530"/>
                  <a:pt x="80679" y="53309"/>
                </a:cubicBezTo>
                <a:cubicBezTo>
                  <a:pt x="78875" y="62327"/>
                  <a:pt x="67135" y="66690"/>
                  <a:pt x="58410" y="69595"/>
                </a:cubicBezTo>
              </a:path>
            </a:pathLst>
          </a:custGeom>
          <a:noFill/>
          <a:ln cap="flat" cmpd="sng" w="7620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