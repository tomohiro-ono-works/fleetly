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9e82682b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9e82682b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9e82682b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9e82682b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9e82682be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9e82682be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9e82682be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9e82682be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9e82682be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9e82682be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9e82682be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9e82682be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9e82682be_1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9e82682be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9e82682be_1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9e82682be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9e82682be_1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9e82682be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9e82682be_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9e82682be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26738" y="2377625"/>
            <a:ext cx="2517600" cy="104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5000"/>
              <a:t>ETL</a:t>
            </a:r>
            <a:endParaRPr sz="3200"/>
          </a:p>
        </p:txBody>
      </p:sp>
      <p:sp>
        <p:nvSpPr>
          <p:cNvPr id="55" name="Google Shape;55;p13"/>
          <p:cNvSpPr/>
          <p:nvPr/>
        </p:nvSpPr>
        <p:spPr>
          <a:xfrm>
            <a:off x="3313193" y="2377625"/>
            <a:ext cx="2517600" cy="104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5000"/>
              <a:t>RPA</a:t>
            </a:r>
            <a:endParaRPr sz="1700"/>
          </a:p>
        </p:txBody>
      </p:sp>
      <p:sp>
        <p:nvSpPr>
          <p:cNvPr id="56" name="Google Shape;56;p13"/>
          <p:cNvSpPr/>
          <p:nvPr/>
        </p:nvSpPr>
        <p:spPr>
          <a:xfrm>
            <a:off x="6182775" y="2377625"/>
            <a:ext cx="2517600" cy="104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4300">
                <a:solidFill>
                  <a:schemeClr val="dk1"/>
                </a:solidFill>
              </a:rPr>
              <a:t>AI Agent</a:t>
            </a:r>
            <a:endParaRPr sz="5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906425" y="1338925"/>
            <a:ext cx="8259500" cy="3282200"/>
          </a:xfrm>
          <a:custGeom>
            <a:rect b="b" l="l" r="r" t="t"/>
            <a:pathLst>
              <a:path extrusionOk="0" h="131288" w="330380">
                <a:moveTo>
                  <a:pt x="0" y="332"/>
                </a:moveTo>
                <a:lnTo>
                  <a:pt x="0" y="69134"/>
                </a:lnTo>
                <a:lnTo>
                  <a:pt x="103700" y="69134"/>
                </a:lnTo>
                <a:lnTo>
                  <a:pt x="103700" y="131288"/>
                </a:lnTo>
                <a:lnTo>
                  <a:pt x="330380" y="131288"/>
                </a:lnTo>
                <a:lnTo>
                  <a:pt x="33038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</p:sp>
      <p:sp>
        <p:nvSpPr>
          <p:cNvPr id="62" name="Google Shape;62;p14"/>
          <p:cNvSpPr/>
          <p:nvPr/>
        </p:nvSpPr>
        <p:spPr>
          <a:xfrm>
            <a:off x="3842450" y="1598225"/>
            <a:ext cx="5040900" cy="2707200"/>
          </a:xfrm>
          <a:prstGeom prst="rect">
            <a:avLst/>
          </a:prstGeom>
          <a:solidFill>
            <a:srgbClr val="D9EAD3">
              <a:alpha val="85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latin typeface="Meiryo"/>
                <a:ea typeface="Meiryo"/>
                <a:cs typeface="Meiryo"/>
                <a:sym typeface="Meiryo"/>
              </a:rPr>
              <a:t>バック</a:t>
            </a:r>
            <a:r>
              <a:rPr b="1" lang="ja" sz="800">
                <a:latin typeface="Meiryo"/>
                <a:ea typeface="Meiryo"/>
                <a:cs typeface="Meiryo"/>
                <a:sym typeface="Meiryo"/>
              </a:rPr>
              <a:t>エンド</a:t>
            </a:r>
            <a:endParaRPr b="1" sz="8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1255400" y="1598225"/>
            <a:ext cx="2252100" cy="1278000"/>
          </a:xfrm>
          <a:prstGeom prst="rect">
            <a:avLst/>
          </a:prstGeom>
          <a:solidFill>
            <a:srgbClr val="FFF2CC">
              <a:alpha val="85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latin typeface="Meiryo"/>
                <a:ea typeface="Meiryo"/>
                <a:cs typeface="Meiryo"/>
                <a:sym typeface="Meiryo"/>
              </a:rPr>
              <a:t>フロントエンド</a:t>
            </a:r>
            <a:endParaRPr b="1" sz="8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1396649" y="2052400"/>
            <a:ext cx="1960800" cy="4998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フロント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931324" y="3565007"/>
            <a:ext cx="1960800" cy="4998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設定ファイル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4022471" y="2052400"/>
            <a:ext cx="19608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WebView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4022471" y="3343907"/>
            <a:ext cx="19608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コアプログラムna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6822800" y="30651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6936441" y="32175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7050082" y="33699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7163723" y="35223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内部</a:t>
            </a: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72" name="Google Shape;72;p14"/>
          <p:cNvCxnSpPr>
            <a:stCxn id="64" idx="3"/>
            <a:endCxn id="66" idx="1"/>
          </p:cNvCxnSpPr>
          <p:nvPr/>
        </p:nvCxnSpPr>
        <p:spPr>
          <a:xfrm>
            <a:off x="3357449" y="2302300"/>
            <a:ext cx="665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4"/>
          <p:cNvCxnSpPr>
            <a:stCxn id="65" idx="0"/>
            <a:endCxn id="64" idx="2"/>
          </p:cNvCxnSpPr>
          <p:nvPr/>
        </p:nvCxnSpPr>
        <p:spPr>
          <a:xfrm flipH="1" rot="10800000">
            <a:off x="1911724" y="2552207"/>
            <a:ext cx="465300" cy="101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4"/>
          <p:cNvCxnSpPr>
            <a:stCxn id="66" idx="2"/>
            <a:endCxn id="67" idx="0"/>
          </p:cNvCxnSpPr>
          <p:nvPr/>
        </p:nvCxnSpPr>
        <p:spPr>
          <a:xfrm>
            <a:off x="5002871" y="2552200"/>
            <a:ext cx="0" cy="79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4"/>
          <p:cNvCxnSpPr>
            <a:stCxn id="67" idx="3"/>
          </p:cNvCxnSpPr>
          <p:nvPr/>
        </p:nvCxnSpPr>
        <p:spPr>
          <a:xfrm flipH="1" rot="10800000">
            <a:off x="5983271" y="3590807"/>
            <a:ext cx="1088700" cy="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4"/>
          <p:cNvCxnSpPr>
            <a:stCxn id="65" idx="3"/>
            <a:endCxn id="67" idx="1"/>
          </p:cNvCxnSpPr>
          <p:nvPr/>
        </p:nvCxnSpPr>
        <p:spPr>
          <a:xfrm flipH="1" rot="10800000">
            <a:off x="2892124" y="3593807"/>
            <a:ext cx="1130400" cy="22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4"/>
          <p:cNvSpPr/>
          <p:nvPr/>
        </p:nvSpPr>
        <p:spPr>
          <a:xfrm>
            <a:off x="740225" y="1215900"/>
            <a:ext cx="1495800" cy="291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アプリケーション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369125" y="1919450"/>
            <a:ext cx="8381400" cy="7884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GUI</a:t>
            </a:r>
            <a:endParaRPr b="1">
              <a:solidFill>
                <a:srgbClr val="999999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369125" y="2967544"/>
            <a:ext cx="8381400" cy="11988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CLI</a:t>
            </a:r>
            <a:endParaRPr b="1">
              <a:solidFill>
                <a:srgbClr val="999999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576900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再利用性</a:t>
            </a:r>
            <a:endParaRPr sz="1800"/>
          </a:p>
        </p:txBody>
      </p:sp>
      <p:sp>
        <p:nvSpPr>
          <p:cNvPr id="81" name="Google Shape;81;p14"/>
          <p:cNvSpPr/>
          <p:nvPr/>
        </p:nvSpPr>
        <p:spPr>
          <a:xfrm>
            <a:off x="3465677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拡張性</a:t>
            </a:r>
            <a:endParaRPr sz="1800"/>
          </a:p>
        </p:txBody>
      </p:sp>
      <p:sp>
        <p:nvSpPr>
          <p:cNvPr id="82" name="Google Shape;82;p14"/>
          <p:cNvSpPr/>
          <p:nvPr/>
        </p:nvSpPr>
        <p:spPr>
          <a:xfrm>
            <a:off x="6232929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1"/>
                </a:solidFill>
              </a:rPr>
              <a:t>容易性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/>
          <p:nvPr/>
        </p:nvSpPr>
        <p:spPr>
          <a:xfrm>
            <a:off x="906425" y="1338925"/>
            <a:ext cx="8259500" cy="3282200"/>
          </a:xfrm>
          <a:custGeom>
            <a:rect b="b" l="l" r="r" t="t"/>
            <a:pathLst>
              <a:path extrusionOk="0" h="131288" w="330380">
                <a:moveTo>
                  <a:pt x="0" y="332"/>
                </a:moveTo>
                <a:lnTo>
                  <a:pt x="0" y="69134"/>
                </a:lnTo>
                <a:lnTo>
                  <a:pt x="103700" y="69134"/>
                </a:lnTo>
                <a:lnTo>
                  <a:pt x="103700" y="131288"/>
                </a:lnTo>
                <a:lnTo>
                  <a:pt x="330380" y="131288"/>
                </a:lnTo>
                <a:lnTo>
                  <a:pt x="33038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</p:sp>
      <p:sp>
        <p:nvSpPr>
          <p:cNvPr id="88" name="Google Shape;88;p15"/>
          <p:cNvSpPr/>
          <p:nvPr/>
        </p:nvSpPr>
        <p:spPr>
          <a:xfrm>
            <a:off x="3842450" y="1598225"/>
            <a:ext cx="5040900" cy="2707200"/>
          </a:xfrm>
          <a:prstGeom prst="rect">
            <a:avLst/>
          </a:prstGeom>
          <a:solidFill>
            <a:srgbClr val="D9EAD3">
              <a:alpha val="85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latin typeface="Meiryo"/>
                <a:ea typeface="Meiryo"/>
                <a:cs typeface="Meiryo"/>
                <a:sym typeface="Meiryo"/>
              </a:rPr>
              <a:t>バックエンド</a:t>
            </a:r>
            <a:endParaRPr b="1" sz="8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1255400" y="1598225"/>
            <a:ext cx="2252100" cy="1278000"/>
          </a:xfrm>
          <a:prstGeom prst="rect">
            <a:avLst/>
          </a:prstGeom>
          <a:solidFill>
            <a:srgbClr val="FFF2CC">
              <a:alpha val="85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latin typeface="Meiryo"/>
                <a:ea typeface="Meiryo"/>
                <a:cs typeface="Meiryo"/>
                <a:sym typeface="Meiryo"/>
              </a:rPr>
              <a:t>フロントエンド</a:t>
            </a:r>
            <a:endParaRPr b="1" sz="8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1396649" y="2052400"/>
            <a:ext cx="1960800" cy="4998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フロント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931324" y="3565007"/>
            <a:ext cx="1960800" cy="4998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設定ファイル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4022471" y="2052400"/>
            <a:ext cx="19608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WebView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4022471" y="3343907"/>
            <a:ext cx="19608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コアプログラムna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6822800" y="30651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6936441" y="32175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7050082" y="33699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7163723" y="35223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内部モジュール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98" name="Google Shape;98;p15"/>
          <p:cNvCxnSpPr>
            <a:stCxn id="90" idx="3"/>
            <a:endCxn id="92" idx="1"/>
          </p:cNvCxnSpPr>
          <p:nvPr/>
        </p:nvCxnSpPr>
        <p:spPr>
          <a:xfrm>
            <a:off x="3357449" y="2302300"/>
            <a:ext cx="665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5"/>
          <p:cNvCxnSpPr>
            <a:stCxn id="91" idx="0"/>
            <a:endCxn id="90" idx="2"/>
          </p:cNvCxnSpPr>
          <p:nvPr/>
        </p:nvCxnSpPr>
        <p:spPr>
          <a:xfrm flipH="1" rot="10800000">
            <a:off x="1911724" y="2552207"/>
            <a:ext cx="465300" cy="101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5"/>
          <p:cNvCxnSpPr>
            <a:stCxn id="92" idx="2"/>
            <a:endCxn id="93" idx="0"/>
          </p:cNvCxnSpPr>
          <p:nvPr/>
        </p:nvCxnSpPr>
        <p:spPr>
          <a:xfrm>
            <a:off x="5002871" y="2552200"/>
            <a:ext cx="0" cy="79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5"/>
          <p:cNvCxnSpPr>
            <a:stCxn id="93" idx="3"/>
          </p:cNvCxnSpPr>
          <p:nvPr/>
        </p:nvCxnSpPr>
        <p:spPr>
          <a:xfrm flipH="1" rot="10800000">
            <a:off x="5983271" y="3590807"/>
            <a:ext cx="1088700" cy="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5"/>
          <p:cNvCxnSpPr>
            <a:stCxn id="91" idx="3"/>
            <a:endCxn id="93" idx="1"/>
          </p:cNvCxnSpPr>
          <p:nvPr/>
        </p:nvCxnSpPr>
        <p:spPr>
          <a:xfrm flipH="1" rot="10800000">
            <a:off x="2892124" y="3593807"/>
            <a:ext cx="1130400" cy="22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" name="Google Shape;103;p15"/>
          <p:cNvSpPr/>
          <p:nvPr/>
        </p:nvSpPr>
        <p:spPr>
          <a:xfrm>
            <a:off x="740225" y="1215900"/>
            <a:ext cx="1495800" cy="291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アプリケーション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369125" y="1919450"/>
            <a:ext cx="8381400" cy="7884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GUI</a:t>
            </a:r>
            <a:endParaRPr b="1">
              <a:solidFill>
                <a:srgbClr val="999999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369125" y="2967544"/>
            <a:ext cx="8381400" cy="11988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CLI</a:t>
            </a:r>
            <a:endParaRPr b="1">
              <a:solidFill>
                <a:srgbClr val="999999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538025" y="919918"/>
            <a:ext cx="8581325" cy="3843775"/>
          </a:xfrm>
          <a:custGeom>
            <a:rect b="b" l="l" r="r" t="t"/>
            <a:pathLst>
              <a:path extrusionOk="0" h="153751" w="343253">
                <a:moveTo>
                  <a:pt x="72901" y="4130"/>
                </a:moveTo>
                <a:cubicBezTo>
                  <a:pt x="57606" y="-2671"/>
                  <a:pt x="38336" y="-218"/>
                  <a:pt x="22713" y="5791"/>
                </a:cubicBezTo>
                <a:cubicBezTo>
                  <a:pt x="16465" y="8194"/>
                  <a:pt x="8879" y="9098"/>
                  <a:pt x="4432" y="14101"/>
                </a:cubicBezTo>
                <a:cubicBezTo>
                  <a:pt x="-3777" y="23338"/>
                  <a:pt x="619" y="41148"/>
                  <a:pt x="8088" y="50994"/>
                </a:cubicBezTo>
                <a:cubicBezTo>
                  <a:pt x="19860" y="66512"/>
                  <a:pt x="41558" y="73953"/>
                  <a:pt x="60936" y="75923"/>
                </a:cubicBezTo>
                <a:cubicBezTo>
                  <a:pt x="76592" y="77515"/>
                  <a:pt x="93712" y="76257"/>
                  <a:pt x="107468" y="83900"/>
                </a:cubicBezTo>
                <a:cubicBezTo>
                  <a:pt x="131245" y="97110"/>
                  <a:pt x="132046" y="140685"/>
                  <a:pt x="158321" y="147716"/>
                </a:cubicBezTo>
                <a:cubicBezTo>
                  <a:pt x="194496" y="157396"/>
                  <a:pt x="233792" y="153925"/>
                  <a:pt x="270664" y="147383"/>
                </a:cubicBezTo>
                <a:cubicBezTo>
                  <a:pt x="295674" y="142946"/>
                  <a:pt x="327394" y="138586"/>
                  <a:pt x="340463" y="116805"/>
                </a:cubicBezTo>
                <a:cubicBezTo>
                  <a:pt x="346566" y="106633"/>
                  <a:pt x="340893" y="92973"/>
                  <a:pt x="339133" y="81241"/>
                </a:cubicBezTo>
                <a:cubicBezTo>
                  <a:pt x="336134" y="61247"/>
                  <a:pt x="326135" y="41038"/>
                  <a:pt x="311214" y="27396"/>
                </a:cubicBezTo>
                <a:cubicBezTo>
                  <a:pt x="301314" y="18344"/>
                  <a:pt x="287101" y="14935"/>
                  <a:pt x="273988" y="12107"/>
                </a:cubicBezTo>
                <a:cubicBezTo>
                  <a:pt x="230732" y="2777"/>
                  <a:pt x="185621" y="6124"/>
                  <a:pt x="141370" y="6124"/>
                </a:cubicBezTo>
                <a:cubicBezTo>
                  <a:pt x="117831" y="6124"/>
                  <a:pt x="90499" y="14519"/>
                  <a:pt x="70907" y="1471"/>
                </a:cubicBez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7" name="Google Shape;107;p15"/>
          <p:cNvSpPr/>
          <p:nvPr/>
        </p:nvSpPr>
        <p:spPr>
          <a:xfrm>
            <a:off x="474580" y="3245757"/>
            <a:ext cx="2828675" cy="1725425"/>
          </a:xfrm>
          <a:custGeom>
            <a:rect b="b" l="l" r="r" t="t"/>
            <a:pathLst>
              <a:path extrusionOk="0" h="69017" w="113147">
                <a:moveTo>
                  <a:pt x="66465" y="58671"/>
                </a:moveTo>
                <a:cubicBezTo>
                  <a:pt x="53303" y="60552"/>
                  <a:pt x="39827" y="59478"/>
                  <a:pt x="26580" y="58339"/>
                </a:cubicBezTo>
                <a:cubicBezTo>
                  <a:pt x="20041" y="57777"/>
                  <a:pt x="12660" y="55931"/>
                  <a:pt x="8299" y="51026"/>
                </a:cubicBezTo>
                <a:cubicBezTo>
                  <a:pt x="2852" y="44899"/>
                  <a:pt x="-958" y="35858"/>
                  <a:pt x="322" y="27760"/>
                </a:cubicBezTo>
                <a:cubicBezTo>
                  <a:pt x="1367" y="21148"/>
                  <a:pt x="5227" y="14876"/>
                  <a:pt x="9961" y="10144"/>
                </a:cubicBezTo>
                <a:cubicBezTo>
                  <a:pt x="16806" y="3301"/>
                  <a:pt x="28299" y="3536"/>
                  <a:pt x="37881" y="2167"/>
                </a:cubicBezTo>
                <a:cubicBezTo>
                  <a:pt x="62248" y="-1314"/>
                  <a:pt x="100209" y="-3271"/>
                  <a:pt x="109674" y="19451"/>
                </a:cubicBezTo>
                <a:cubicBezTo>
                  <a:pt x="113424" y="28453"/>
                  <a:pt x="115308" y="41255"/>
                  <a:pt x="109009" y="48700"/>
                </a:cubicBezTo>
                <a:cubicBezTo>
                  <a:pt x="101179" y="57954"/>
                  <a:pt x="89736" y="65397"/>
                  <a:pt x="77766" y="67313"/>
                </a:cubicBezTo>
                <a:cubicBezTo>
                  <a:pt x="74238" y="67878"/>
                  <a:pt x="70520" y="69771"/>
                  <a:pt x="67130" y="68642"/>
                </a:cubicBezTo>
                <a:cubicBezTo>
                  <a:pt x="63321" y="67374"/>
                  <a:pt x="62324" y="62175"/>
                  <a:pt x="59485" y="59336"/>
                </a:cubicBez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8" name="Google Shape;108;p15"/>
          <p:cNvSpPr/>
          <p:nvPr/>
        </p:nvSpPr>
        <p:spPr>
          <a:xfrm>
            <a:off x="576900" y="171300"/>
            <a:ext cx="2517600" cy="361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0000"/>
                </a:solidFill>
              </a:rPr>
              <a:t>再利用性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3465677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拡張性</a:t>
            </a:r>
            <a:endParaRPr sz="1800"/>
          </a:p>
        </p:txBody>
      </p:sp>
      <p:sp>
        <p:nvSpPr>
          <p:cNvPr id="110" name="Google Shape;110;p15"/>
          <p:cNvSpPr/>
          <p:nvPr/>
        </p:nvSpPr>
        <p:spPr>
          <a:xfrm>
            <a:off x="6232929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1"/>
                </a:solidFill>
              </a:rPr>
              <a:t>容易性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332350" y="1728325"/>
            <a:ext cx="2574000" cy="1316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import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</a:t>
            </a:r>
            <a:r>
              <a:rPr lang="ja" sz="1050">
                <a:solidFill>
                  <a:srgbClr val="B45908"/>
                </a:solidFill>
                <a:highlight>
                  <a:srgbClr val="F0F2F5"/>
                </a:highlight>
              </a:rPr>
              <a:t>pandas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</a:t>
            </a: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as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pd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ja" sz="1050">
                <a:solidFill>
                  <a:srgbClr val="80868B"/>
                </a:solidFill>
                <a:highlight>
                  <a:srgbClr val="F0F2F5"/>
                </a:highlight>
              </a:rPr>
              <a:t># Excelファイルを指定して読み込む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B45908"/>
                </a:solidFill>
                <a:highlight>
                  <a:srgbClr val="F0F2F5"/>
                </a:highlight>
              </a:rPr>
              <a:t>df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= pd.read_excel(</a:t>
            </a:r>
            <a:r>
              <a:rPr lang="ja" sz="1050">
                <a:solidFill>
                  <a:srgbClr val="188038"/>
                </a:solidFill>
                <a:highlight>
                  <a:srgbClr val="F0F2F5"/>
                </a:highlight>
              </a:rPr>
              <a:t>'sample.xlsx'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)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ja" sz="1050">
                <a:solidFill>
                  <a:srgbClr val="80868B"/>
                </a:solidFill>
                <a:highlight>
                  <a:srgbClr val="F0F2F5"/>
                </a:highlight>
              </a:rPr>
              <a:t># 最初の5行を表示して中身を確認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print(df.head())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3334738" y="1728325"/>
            <a:ext cx="2574000" cy="2019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ja" sz="1050">
                <a:solidFill>
                  <a:srgbClr val="80868B"/>
                </a:solidFill>
                <a:highlight>
                  <a:srgbClr val="F0F2F5"/>
                </a:highlight>
              </a:rPr>
              <a:t># ファイルパスを変数に格納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B45908"/>
                </a:solidFill>
                <a:highlight>
                  <a:srgbClr val="F0F2F5"/>
                </a:highlight>
              </a:rPr>
              <a:t>file_path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= </a:t>
            </a:r>
            <a:r>
              <a:rPr lang="ja" sz="1050">
                <a:solidFill>
                  <a:srgbClr val="188038"/>
                </a:solidFill>
                <a:highlight>
                  <a:srgbClr val="F0F2F5"/>
                </a:highlight>
              </a:rPr>
              <a:t>'sample.xlsx'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import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</a:t>
            </a:r>
            <a:r>
              <a:rPr lang="ja" sz="1050">
                <a:solidFill>
                  <a:srgbClr val="B45908"/>
                </a:solidFill>
                <a:highlight>
                  <a:srgbClr val="F0F2F5"/>
                </a:highlight>
              </a:rPr>
              <a:t>pandas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</a:t>
            </a: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as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pd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ja" sz="1050">
                <a:solidFill>
                  <a:srgbClr val="80868B"/>
                </a:solidFill>
                <a:highlight>
                  <a:srgbClr val="F0F2F5"/>
                </a:highlight>
              </a:rPr>
              <a:t># 変数を使って読み込み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B45908"/>
                </a:solidFill>
                <a:highlight>
                  <a:srgbClr val="F0F2F5"/>
                </a:highlight>
              </a:rPr>
              <a:t>df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= pd.read_excel(file_path)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ja" sz="1050">
                <a:solidFill>
                  <a:srgbClr val="80868B"/>
                </a:solidFill>
                <a:highlight>
                  <a:srgbClr val="F0F2F5"/>
                </a:highlight>
              </a:rPr>
              <a:t># データの確認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print(df.head())</a:t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32350" y="1315625"/>
            <a:ext cx="2574000" cy="28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通常のコード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3334750" y="1315625"/>
            <a:ext cx="2574000" cy="28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抽象化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445263" y="1728325"/>
            <a:ext cx="2574000" cy="717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ja" sz="1050">
                <a:solidFill>
                  <a:srgbClr val="80868B"/>
                </a:solidFill>
                <a:highlight>
                  <a:srgbClr val="F0F2F5"/>
                </a:highlight>
              </a:rPr>
              <a:t># ファイルパスを変数に格納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B45908"/>
                </a:solidFill>
                <a:highlight>
                  <a:srgbClr val="F0F2F5"/>
                </a:highlight>
              </a:rPr>
              <a:t>file_path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= </a:t>
            </a:r>
            <a:r>
              <a:rPr lang="ja" sz="1050">
                <a:solidFill>
                  <a:srgbClr val="188038"/>
                </a:solidFill>
                <a:highlight>
                  <a:srgbClr val="F0F2F5"/>
                </a:highlight>
              </a:rPr>
              <a:t>'sample.xlsx'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6445275" y="1315625"/>
            <a:ext cx="2574000" cy="28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分離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6445263" y="2657425"/>
            <a:ext cx="2574000" cy="1089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import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</a:t>
            </a:r>
            <a:r>
              <a:rPr lang="ja" sz="1050">
                <a:solidFill>
                  <a:srgbClr val="B45908"/>
                </a:solidFill>
                <a:highlight>
                  <a:srgbClr val="F0F2F5"/>
                </a:highlight>
              </a:rPr>
              <a:t>pandas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</a:t>
            </a: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as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pd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ja" sz="1050">
                <a:solidFill>
                  <a:srgbClr val="80868B"/>
                </a:solidFill>
                <a:highlight>
                  <a:srgbClr val="F0F2F5"/>
                </a:highlight>
              </a:rPr>
              <a:t># 変数を使って読み込み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B45908"/>
                </a:solidFill>
                <a:highlight>
                  <a:srgbClr val="F0F2F5"/>
                </a:highlight>
              </a:rPr>
              <a:t>df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= pd.read_excel(file_path)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ja" sz="1050">
                <a:solidFill>
                  <a:srgbClr val="80868B"/>
                </a:solidFill>
                <a:highlight>
                  <a:srgbClr val="F0F2F5"/>
                </a:highlight>
              </a:rPr>
              <a:t># データの確認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print(df.head())</a:t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2933650" y="2333425"/>
            <a:ext cx="373800" cy="32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990100" y="2296650"/>
            <a:ext cx="373800" cy="32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6363900" y="660600"/>
            <a:ext cx="1171500" cy="578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9900"/>
                </a:solidFill>
              </a:rPr>
              <a:t>パラメータ</a:t>
            </a:r>
            <a:endParaRPr b="1">
              <a:solidFill>
                <a:srgbClr val="FF99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9900"/>
                </a:solidFill>
              </a:rPr>
              <a:t>の分離</a:t>
            </a:r>
            <a:endParaRPr b="1">
              <a:solidFill>
                <a:srgbClr val="FF9900"/>
              </a:solidFill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7897450" y="660600"/>
            <a:ext cx="1171500" cy="578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9900"/>
                </a:solidFill>
              </a:rPr>
              <a:t>機密情報</a:t>
            </a:r>
            <a:endParaRPr b="1">
              <a:solidFill>
                <a:srgbClr val="FF99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9900"/>
                </a:solidFill>
              </a:rPr>
              <a:t>の分離</a:t>
            </a:r>
            <a:endParaRPr b="1">
              <a:solidFill>
                <a:srgbClr val="FF9900"/>
              </a:solidFill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576900" y="171300"/>
            <a:ext cx="2517600" cy="361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0000"/>
                </a:solidFill>
              </a:rPr>
              <a:t>再利用性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465677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拡張性</a:t>
            </a:r>
            <a:endParaRPr sz="1800"/>
          </a:p>
        </p:txBody>
      </p:sp>
      <p:sp>
        <p:nvSpPr>
          <p:cNvPr id="128" name="Google Shape;128;p16"/>
          <p:cNvSpPr/>
          <p:nvPr/>
        </p:nvSpPr>
        <p:spPr>
          <a:xfrm>
            <a:off x="6232929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1"/>
                </a:solidFill>
              </a:rPr>
              <a:t>容易性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/>
          <p:nvPr/>
        </p:nvSpPr>
        <p:spPr>
          <a:xfrm>
            <a:off x="906425" y="1338925"/>
            <a:ext cx="8259500" cy="3282200"/>
          </a:xfrm>
          <a:custGeom>
            <a:rect b="b" l="l" r="r" t="t"/>
            <a:pathLst>
              <a:path extrusionOk="0" h="131288" w="330380">
                <a:moveTo>
                  <a:pt x="0" y="332"/>
                </a:moveTo>
                <a:lnTo>
                  <a:pt x="0" y="69134"/>
                </a:lnTo>
                <a:lnTo>
                  <a:pt x="103700" y="69134"/>
                </a:lnTo>
                <a:lnTo>
                  <a:pt x="103700" y="131288"/>
                </a:lnTo>
                <a:lnTo>
                  <a:pt x="330380" y="131288"/>
                </a:lnTo>
                <a:lnTo>
                  <a:pt x="33038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</p:sp>
      <p:sp>
        <p:nvSpPr>
          <p:cNvPr id="134" name="Google Shape;134;p17"/>
          <p:cNvSpPr/>
          <p:nvPr/>
        </p:nvSpPr>
        <p:spPr>
          <a:xfrm>
            <a:off x="3842450" y="1598225"/>
            <a:ext cx="5040900" cy="2707200"/>
          </a:xfrm>
          <a:prstGeom prst="rect">
            <a:avLst/>
          </a:prstGeom>
          <a:solidFill>
            <a:srgbClr val="D9EAD3">
              <a:alpha val="85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latin typeface="Meiryo"/>
                <a:ea typeface="Meiryo"/>
                <a:cs typeface="Meiryo"/>
                <a:sym typeface="Meiryo"/>
              </a:rPr>
              <a:t>バックエンド</a:t>
            </a:r>
            <a:endParaRPr b="1" sz="8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1255400" y="1598225"/>
            <a:ext cx="2252100" cy="1278000"/>
          </a:xfrm>
          <a:prstGeom prst="rect">
            <a:avLst/>
          </a:prstGeom>
          <a:solidFill>
            <a:srgbClr val="FFF2CC">
              <a:alpha val="85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latin typeface="Meiryo"/>
                <a:ea typeface="Meiryo"/>
                <a:cs typeface="Meiryo"/>
                <a:sym typeface="Meiryo"/>
              </a:rPr>
              <a:t>フロントエンド</a:t>
            </a:r>
            <a:endParaRPr b="1" sz="8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1396649" y="2052400"/>
            <a:ext cx="1960800" cy="4998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フロント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931324" y="3565007"/>
            <a:ext cx="1960800" cy="4998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設定ファイル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4022471" y="2052400"/>
            <a:ext cx="19608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WebView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022471" y="3343907"/>
            <a:ext cx="19608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コアプログラムna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6822800" y="30651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6936441" y="32175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7050082" y="33699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7163723" y="35223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内部モジュール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44" name="Google Shape;144;p17"/>
          <p:cNvCxnSpPr>
            <a:stCxn id="136" idx="3"/>
            <a:endCxn id="138" idx="1"/>
          </p:cNvCxnSpPr>
          <p:nvPr/>
        </p:nvCxnSpPr>
        <p:spPr>
          <a:xfrm>
            <a:off x="3357449" y="2302300"/>
            <a:ext cx="665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17"/>
          <p:cNvCxnSpPr>
            <a:stCxn id="137" idx="0"/>
            <a:endCxn id="136" idx="2"/>
          </p:cNvCxnSpPr>
          <p:nvPr/>
        </p:nvCxnSpPr>
        <p:spPr>
          <a:xfrm flipH="1" rot="10800000">
            <a:off x="1911724" y="2552207"/>
            <a:ext cx="465300" cy="101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17"/>
          <p:cNvCxnSpPr>
            <a:stCxn id="138" idx="2"/>
            <a:endCxn id="139" idx="0"/>
          </p:cNvCxnSpPr>
          <p:nvPr/>
        </p:nvCxnSpPr>
        <p:spPr>
          <a:xfrm>
            <a:off x="5002871" y="2552200"/>
            <a:ext cx="0" cy="79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7"/>
          <p:cNvCxnSpPr>
            <a:stCxn id="139" idx="3"/>
          </p:cNvCxnSpPr>
          <p:nvPr/>
        </p:nvCxnSpPr>
        <p:spPr>
          <a:xfrm flipH="1" rot="10800000">
            <a:off x="5983271" y="3590807"/>
            <a:ext cx="1088700" cy="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7"/>
          <p:cNvCxnSpPr>
            <a:stCxn id="137" idx="3"/>
            <a:endCxn id="139" idx="1"/>
          </p:cNvCxnSpPr>
          <p:nvPr/>
        </p:nvCxnSpPr>
        <p:spPr>
          <a:xfrm flipH="1" rot="10800000">
            <a:off x="2892124" y="3593807"/>
            <a:ext cx="1130400" cy="22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p17"/>
          <p:cNvSpPr/>
          <p:nvPr/>
        </p:nvSpPr>
        <p:spPr>
          <a:xfrm>
            <a:off x="740225" y="1215900"/>
            <a:ext cx="1495800" cy="291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アプリケーション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369125" y="1919450"/>
            <a:ext cx="8381400" cy="7884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GUI</a:t>
            </a:r>
            <a:endParaRPr b="1">
              <a:solidFill>
                <a:srgbClr val="999999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369125" y="2967544"/>
            <a:ext cx="8381400" cy="11988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CLI</a:t>
            </a:r>
            <a:endParaRPr b="1">
              <a:solidFill>
                <a:srgbClr val="999999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3924922" y="2731685"/>
            <a:ext cx="2034025" cy="1739850"/>
          </a:xfrm>
          <a:custGeom>
            <a:rect b="b" l="l" r="r" t="t"/>
            <a:pathLst>
              <a:path extrusionOk="0" h="69594" w="81361">
                <a:moveTo>
                  <a:pt x="62398" y="66604"/>
                </a:moveTo>
                <a:cubicBezTo>
                  <a:pt x="44039" y="66604"/>
                  <a:pt x="20398" y="64264"/>
                  <a:pt x="10215" y="48988"/>
                </a:cubicBezTo>
                <a:cubicBezTo>
                  <a:pt x="2836" y="37919"/>
                  <a:pt x="-5399" y="17859"/>
                  <a:pt x="4897" y="9435"/>
                </a:cubicBezTo>
                <a:cubicBezTo>
                  <a:pt x="21217" y="-3917"/>
                  <a:pt x="54697" y="-3229"/>
                  <a:pt x="68048" y="13091"/>
                </a:cubicBezTo>
                <a:cubicBezTo>
                  <a:pt x="76946" y="23967"/>
                  <a:pt x="83435" y="39530"/>
                  <a:pt x="80679" y="53309"/>
                </a:cubicBezTo>
                <a:cubicBezTo>
                  <a:pt x="78875" y="62327"/>
                  <a:pt x="67135" y="66690"/>
                  <a:pt x="58410" y="69595"/>
                </a:cubicBez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3" name="Google Shape;153;p17"/>
          <p:cNvSpPr/>
          <p:nvPr/>
        </p:nvSpPr>
        <p:spPr>
          <a:xfrm>
            <a:off x="6650534" y="2749985"/>
            <a:ext cx="2034025" cy="1739850"/>
          </a:xfrm>
          <a:custGeom>
            <a:rect b="b" l="l" r="r" t="t"/>
            <a:pathLst>
              <a:path extrusionOk="0" h="69594" w="81361">
                <a:moveTo>
                  <a:pt x="62398" y="66604"/>
                </a:moveTo>
                <a:cubicBezTo>
                  <a:pt x="44039" y="66604"/>
                  <a:pt x="20398" y="64264"/>
                  <a:pt x="10215" y="48988"/>
                </a:cubicBezTo>
                <a:cubicBezTo>
                  <a:pt x="2836" y="37919"/>
                  <a:pt x="-5399" y="17859"/>
                  <a:pt x="4897" y="9435"/>
                </a:cubicBezTo>
                <a:cubicBezTo>
                  <a:pt x="21217" y="-3917"/>
                  <a:pt x="54697" y="-3229"/>
                  <a:pt x="68048" y="13091"/>
                </a:cubicBezTo>
                <a:cubicBezTo>
                  <a:pt x="76946" y="23967"/>
                  <a:pt x="83435" y="39530"/>
                  <a:pt x="80679" y="53309"/>
                </a:cubicBezTo>
                <a:cubicBezTo>
                  <a:pt x="78875" y="62327"/>
                  <a:pt x="67135" y="66690"/>
                  <a:pt x="58410" y="69595"/>
                </a:cubicBez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4" name="Google Shape;154;p17"/>
          <p:cNvSpPr/>
          <p:nvPr/>
        </p:nvSpPr>
        <p:spPr>
          <a:xfrm>
            <a:off x="576900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再利用性</a:t>
            </a:r>
            <a:endParaRPr sz="1800"/>
          </a:p>
        </p:txBody>
      </p:sp>
      <p:sp>
        <p:nvSpPr>
          <p:cNvPr id="155" name="Google Shape;155;p17"/>
          <p:cNvSpPr/>
          <p:nvPr/>
        </p:nvSpPr>
        <p:spPr>
          <a:xfrm>
            <a:off x="3465677" y="171300"/>
            <a:ext cx="2517600" cy="361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0000"/>
                </a:solidFill>
              </a:rPr>
              <a:t>拡張性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6232929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1"/>
                </a:solidFill>
              </a:rPr>
              <a:t>容易性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/>
        </p:nvSpPr>
        <p:spPr>
          <a:xfrm>
            <a:off x="332350" y="1728325"/>
            <a:ext cx="2574000" cy="1364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highlight>
                  <a:srgbClr val="F0F2F5"/>
                </a:highlight>
              </a:rPr>
              <a:t>①Excelをdfとして取得</a:t>
            </a:r>
            <a:endParaRPr sz="1050"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↓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②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df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を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BigQuery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取り込みテーブル化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↓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③テーブルを用いてSQL実行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↓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④データをExcelで出力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3334738" y="1728325"/>
            <a:ext cx="2574000" cy="2293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chemeClr val="dk1"/>
                </a:solidFill>
                <a:highlight>
                  <a:srgbClr val="F0F2F5"/>
                </a:highlight>
              </a:rPr>
              <a:t># Excel</a:t>
            </a:r>
            <a:endParaRPr sz="1050">
              <a:solidFill>
                <a:schemeClr val="dk1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chemeClr val="dk1"/>
                </a:solidFill>
                <a:highlight>
                  <a:srgbClr val="F0F2F5"/>
                </a:highlight>
              </a:rPr>
              <a:t>①Excelをdfとして取得</a:t>
            </a:r>
            <a:endParaRPr sz="1050">
              <a:solidFill>
                <a:schemeClr val="dk1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④データをExcelで出力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# BigQuery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②dfをBigQuery取り込みテーブル化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③テーブルを用いてSQL実行</a:t>
            </a:r>
            <a:endParaRPr i="1" sz="1050">
              <a:solidFill>
                <a:srgbClr val="80868B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# </a:t>
            </a: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コアプログラム</a:t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①→②→③→④</a:t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332350" y="1315625"/>
            <a:ext cx="2574000" cy="28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通常のコード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3334750" y="1315625"/>
            <a:ext cx="2574000" cy="28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抽象化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6445263" y="1728325"/>
            <a:ext cx="2574000" cy="669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chemeClr val="dk1"/>
                </a:solidFill>
                <a:highlight>
                  <a:srgbClr val="F0F2F5"/>
                </a:highlight>
              </a:rPr>
              <a:t># Excelモジュール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chemeClr val="dk1"/>
                </a:solidFill>
                <a:highlight>
                  <a:srgbClr val="F0F2F5"/>
                </a:highlight>
              </a:rPr>
              <a:t>①Excelをdfとして取得</a:t>
            </a:r>
            <a:endParaRPr sz="1050">
              <a:solidFill>
                <a:schemeClr val="dk1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④データをExcelで出力</a:t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6445275" y="1315625"/>
            <a:ext cx="2574000" cy="28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分離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2933650" y="2333425"/>
            <a:ext cx="373800" cy="32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990100" y="2296650"/>
            <a:ext cx="373800" cy="32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6494950" y="660600"/>
            <a:ext cx="2574000" cy="578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9900"/>
                </a:solidFill>
              </a:rPr>
              <a:t>開発</a:t>
            </a:r>
            <a:r>
              <a:rPr b="1" lang="ja">
                <a:solidFill>
                  <a:srgbClr val="FF9900"/>
                </a:solidFill>
              </a:rPr>
              <a:t>の分離</a:t>
            </a:r>
            <a:endParaRPr b="1">
              <a:solidFill>
                <a:srgbClr val="FF9900"/>
              </a:solidFill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6445254" y="2579213"/>
            <a:ext cx="2574000" cy="69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# BigQuery</a:t>
            </a:r>
            <a:r>
              <a:rPr lang="ja" sz="1050">
                <a:solidFill>
                  <a:schemeClr val="dk1"/>
                </a:solidFill>
                <a:highlight>
                  <a:srgbClr val="F0F2F5"/>
                </a:highlight>
              </a:rPr>
              <a:t>モジュール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②dfをBigQuery取り込みテーブル化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③テーブルを用いてSQL実行</a:t>
            </a:r>
            <a:endParaRPr sz="1050">
              <a:solidFill>
                <a:schemeClr val="dk1"/>
              </a:solidFill>
              <a:highlight>
                <a:srgbClr val="F0F2F5"/>
              </a:highlight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6445279" y="3454400"/>
            <a:ext cx="2574000" cy="53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# コアプログラム</a:t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①→②→③→④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576900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再利用性</a:t>
            </a:r>
            <a:endParaRPr sz="1800"/>
          </a:p>
        </p:txBody>
      </p:sp>
      <p:sp>
        <p:nvSpPr>
          <p:cNvPr id="173" name="Google Shape;173;p18"/>
          <p:cNvSpPr/>
          <p:nvPr/>
        </p:nvSpPr>
        <p:spPr>
          <a:xfrm>
            <a:off x="3465677" y="171300"/>
            <a:ext cx="2517600" cy="361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0000"/>
                </a:solidFill>
              </a:rPr>
              <a:t>拡張性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6232929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1"/>
                </a:solidFill>
              </a:rPr>
              <a:t>容易性</a:t>
            </a:r>
            <a:endParaRPr sz="1800"/>
          </a:p>
        </p:txBody>
      </p:sp>
      <p:pic>
        <p:nvPicPr>
          <p:cNvPr id="175" name="Google Shape;17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625" y="3319900"/>
            <a:ext cx="1624164" cy="174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/>
          <p:nvPr/>
        </p:nvSpPr>
        <p:spPr>
          <a:xfrm>
            <a:off x="906425" y="1338925"/>
            <a:ext cx="8259500" cy="3282200"/>
          </a:xfrm>
          <a:custGeom>
            <a:rect b="b" l="l" r="r" t="t"/>
            <a:pathLst>
              <a:path extrusionOk="0" h="131288" w="330380">
                <a:moveTo>
                  <a:pt x="0" y="332"/>
                </a:moveTo>
                <a:lnTo>
                  <a:pt x="0" y="69134"/>
                </a:lnTo>
                <a:lnTo>
                  <a:pt x="103700" y="69134"/>
                </a:lnTo>
                <a:lnTo>
                  <a:pt x="103700" y="131288"/>
                </a:lnTo>
                <a:lnTo>
                  <a:pt x="330380" y="131288"/>
                </a:lnTo>
                <a:lnTo>
                  <a:pt x="33038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</p:sp>
      <p:sp>
        <p:nvSpPr>
          <p:cNvPr id="181" name="Google Shape;181;p19"/>
          <p:cNvSpPr/>
          <p:nvPr/>
        </p:nvSpPr>
        <p:spPr>
          <a:xfrm>
            <a:off x="3842450" y="1598225"/>
            <a:ext cx="5040900" cy="2707200"/>
          </a:xfrm>
          <a:prstGeom prst="rect">
            <a:avLst/>
          </a:prstGeom>
          <a:solidFill>
            <a:srgbClr val="D9EAD3">
              <a:alpha val="85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latin typeface="Meiryo"/>
                <a:ea typeface="Meiryo"/>
                <a:cs typeface="Meiryo"/>
                <a:sym typeface="Meiryo"/>
              </a:rPr>
              <a:t>バックエンド</a:t>
            </a:r>
            <a:endParaRPr b="1" sz="8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1255400" y="1598225"/>
            <a:ext cx="2252100" cy="1278000"/>
          </a:xfrm>
          <a:prstGeom prst="rect">
            <a:avLst/>
          </a:prstGeom>
          <a:solidFill>
            <a:srgbClr val="FFF2CC">
              <a:alpha val="85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latin typeface="Meiryo"/>
                <a:ea typeface="Meiryo"/>
                <a:cs typeface="Meiryo"/>
                <a:sym typeface="Meiryo"/>
              </a:rPr>
              <a:t>フロントエンド</a:t>
            </a:r>
            <a:endParaRPr b="1" sz="8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1396649" y="2052400"/>
            <a:ext cx="1960800" cy="4998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フロント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931324" y="3565007"/>
            <a:ext cx="1960800" cy="4998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設定ファイル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4022471" y="2052400"/>
            <a:ext cx="19608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WebView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4022471" y="3343907"/>
            <a:ext cx="19608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コアプログラムna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6822800" y="30651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6936441" y="32175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7050082" y="33699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7163723" y="35223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内部モジュール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91" name="Google Shape;191;p19"/>
          <p:cNvCxnSpPr>
            <a:stCxn id="183" idx="3"/>
            <a:endCxn id="185" idx="1"/>
          </p:cNvCxnSpPr>
          <p:nvPr/>
        </p:nvCxnSpPr>
        <p:spPr>
          <a:xfrm>
            <a:off x="3357449" y="2302300"/>
            <a:ext cx="665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19"/>
          <p:cNvCxnSpPr>
            <a:stCxn id="184" idx="0"/>
            <a:endCxn id="183" idx="2"/>
          </p:cNvCxnSpPr>
          <p:nvPr/>
        </p:nvCxnSpPr>
        <p:spPr>
          <a:xfrm flipH="1" rot="10800000">
            <a:off x="1911724" y="2552207"/>
            <a:ext cx="465300" cy="101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19"/>
          <p:cNvCxnSpPr>
            <a:stCxn id="185" idx="2"/>
            <a:endCxn id="186" idx="0"/>
          </p:cNvCxnSpPr>
          <p:nvPr/>
        </p:nvCxnSpPr>
        <p:spPr>
          <a:xfrm>
            <a:off x="5002871" y="2552200"/>
            <a:ext cx="0" cy="79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19"/>
          <p:cNvCxnSpPr>
            <a:stCxn id="186" idx="3"/>
          </p:cNvCxnSpPr>
          <p:nvPr/>
        </p:nvCxnSpPr>
        <p:spPr>
          <a:xfrm flipH="1" rot="10800000">
            <a:off x="5983271" y="3590807"/>
            <a:ext cx="1088700" cy="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19"/>
          <p:cNvCxnSpPr>
            <a:stCxn id="184" idx="3"/>
            <a:endCxn id="186" idx="1"/>
          </p:cNvCxnSpPr>
          <p:nvPr/>
        </p:nvCxnSpPr>
        <p:spPr>
          <a:xfrm flipH="1" rot="10800000">
            <a:off x="2892124" y="3593807"/>
            <a:ext cx="1130400" cy="22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" name="Google Shape;196;p19"/>
          <p:cNvSpPr/>
          <p:nvPr/>
        </p:nvSpPr>
        <p:spPr>
          <a:xfrm>
            <a:off x="740225" y="1215900"/>
            <a:ext cx="1495800" cy="291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アプリケーション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369125" y="1919450"/>
            <a:ext cx="8381400" cy="7884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GUI</a:t>
            </a:r>
            <a:endParaRPr b="1">
              <a:solidFill>
                <a:srgbClr val="999999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369125" y="2967544"/>
            <a:ext cx="8381400" cy="11988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CLI</a:t>
            </a:r>
            <a:endParaRPr b="1">
              <a:solidFill>
                <a:srgbClr val="999999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76900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再利用性</a:t>
            </a:r>
            <a:endParaRPr sz="1800"/>
          </a:p>
        </p:txBody>
      </p:sp>
      <p:sp>
        <p:nvSpPr>
          <p:cNvPr id="200" name="Google Shape;200;p19"/>
          <p:cNvSpPr/>
          <p:nvPr/>
        </p:nvSpPr>
        <p:spPr>
          <a:xfrm>
            <a:off x="3465677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拡張性</a:t>
            </a:r>
            <a:endParaRPr sz="1800"/>
          </a:p>
        </p:txBody>
      </p:sp>
      <p:sp>
        <p:nvSpPr>
          <p:cNvPr id="201" name="Google Shape;201;p19"/>
          <p:cNvSpPr/>
          <p:nvPr/>
        </p:nvSpPr>
        <p:spPr>
          <a:xfrm>
            <a:off x="6232929" y="171300"/>
            <a:ext cx="2517600" cy="361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0000"/>
                </a:solidFill>
              </a:rPr>
              <a:t>容易性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1226092" y="1367300"/>
            <a:ext cx="4927832" cy="1739850"/>
          </a:xfrm>
          <a:custGeom>
            <a:rect b="b" l="l" r="r" t="t"/>
            <a:pathLst>
              <a:path extrusionOk="0" h="69594" w="81361">
                <a:moveTo>
                  <a:pt x="62398" y="66604"/>
                </a:moveTo>
                <a:cubicBezTo>
                  <a:pt x="44039" y="66604"/>
                  <a:pt x="20398" y="64264"/>
                  <a:pt x="10215" y="48988"/>
                </a:cubicBezTo>
                <a:cubicBezTo>
                  <a:pt x="2836" y="37919"/>
                  <a:pt x="-5399" y="17859"/>
                  <a:pt x="4897" y="9435"/>
                </a:cubicBezTo>
                <a:cubicBezTo>
                  <a:pt x="21217" y="-3917"/>
                  <a:pt x="54697" y="-3229"/>
                  <a:pt x="68048" y="13091"/>
                </a:cubicBezTo>
                <a:cubicBezTo>
                  <a:pt x="76946" y="23967"/>
                  <a:pt x="83435" y="39530"/>
                  <a:pt x="80679" y="53309"/>
                </a:cubicBezTo>
                <a:cubicBezTo>
                  <a:pt x="78875" y="62327"/>
                  <a:pt x="67135" y="66690"/>
                  <a:pt x="58410" y="69595"/>
                </a:cubicBez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150" y="468150"/>
            <a:ext cx="8203625" cy="4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3">
            <a:alphaModFix/>
          </a:blip>
          <a:srcRect b="57988" l="0" r="0" t="0"/>
          <a:stretch/>
        </p:blipFill>
        <p:spPr>
          <a:xfrm>
            <a:off x="715275" y="279875"/>
            <a:ext cx="3817602" cy="3221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41266"/>
          <a:stretch/>
        </p:blipFill>
        <p:spPr>
          <a:xfrm>
            <a:off x="4907923" y="319526"/>
            <a:ext cx="3817602" cy="4504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22"/>
          <p:cNvCxnSpPr>
            <a:stCxn id="219" idx="3"/>
          </p:cNvCxnSpPr>
          <p:nvPr/>
        </p:nvCxnSpPr>
        <p:spPr>
          <a:xfrm>
            <a:off x="1575775" y="1893825"/>
            <a:ext cx="4332900" cy="7581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20" name="Google Shape;220;p22"/>
          <p:cNvGrpSpPr/>
          <p:nvPr/>
        </p:nvGrpSpPr>
        <p:grpSpPr>
          <a:xfrm>
            <a:off x="2137337" y="1498411"/>
            <a:ext cx="5174278" cy="2002953"/>
            <a:chOff x="369125" y="1215900"/>
            <a:chExt cx="8796800" cy="3405225"/>
          </a:xfrm>
        </p:grpSpPr>
        <p:sp>
          <p:nvSpPr>
            <p:cNvPr id="221" name="Google Shape;221;p22"/>
            <p:cNvSpPr/>
            <p:nvPr/>
          </p:nvSpPr>
          <p:spPr>
            <a:xfrm>
              <a:off x="906425" y="1338925"/>
              <a:ext cx="8259500" cy="3282200"/>
            </a:xfrm>
            <a:custGeom>
              <a:rect b="b" l="l" r="r" t="t"/>
              <a:pathLst>
                <a:path extrusionOk="0" h="131288" w="330380">
                  <a:moveTo>
                    <a:pt x="0" y="332"/>
                  </a:moveTo>
                  <a:lnTo>
                    <a:pt x="0" y="69134"/>
                  </a:lnTo>
                  <a:lnTo>
                    <a:pt x="103700" y="69134"/>
                  </a:lnTo>
                  <a:lnTo>
                    <a:pt x="103700" y="131288"/>
                  </a:lnTo>
                  <a:lnTo>
                    <a:pt x="330380" y="131288"/>
                  </a:lnTo>
                  <a:lnTo>
                    <a:pt x="330380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222" name="Google Shape;222;p22"/>
            <p:cNvSpPr/>
            <p:nvPr/>
          </p:nvSpPr>
          <p:spPr>
            <a:xfrm>
              <a:off x="3842450" y="1598225"/>
              <a:ext cx="5040900" cy="2707200"/>
            </a:xfrm>
            <a:prstGeom prst="rect">
              <a:avLst/>
            </a:prstGeom>
            <a:solidFill>
              <a:srgbClr val="D9EAD3">
                <a:alpha val="85000"/>
              </a:srgbClr>
            </a:solidFill>
            <a:ln>
              <a:noFill/>
            </a:ln>
          </p:spPr>
          <p:txBody>
            <a:bodyPr anchorCtr="0" anchor="t" bIns="53775" lIns="53775" spcFirstLastPara="1" rIns="53775" wrap="square" tIns="5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471">
                  <a:latin typeface="Meiryo"/>
                  <a:ea typeface="Meiryo"/>
                  <a:cs typeface="Meiryo"/>
                  <a:sym typeface="Meiryo"/>
                </a:rPr>
                <a:t>バックエンド</a:t>
              </a:r>
              <a:endParaRPr b="1" sz="471"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3" name="Google Shape;223;p22"/>
            <p:cNvSpPr/>
            <p:nvPr/>
          </p:nvSpPr>
          <p:spPr>
            <a:xfrm>
              <a:off x="1255400" y="1598225"/>
              <a:ext cx="2252100" cy="1278000"/>
            </a:xfrm>
            <a:prstGeom prst="rect">
              <a:avLst/>
            </a:prstGeom>
            <a:solidFill>
              <a:srgbClr val="FFF2CC">
                <a:alpha val="85000"/>
              </a:srgbClr>
            </a:solidFill>
            <a:ln>
              <a:noFill/>
            </a:ln>
          </p:spPr>
          <p:txBody>
            <a:bodyPr anchorCtr="0" anchor="t" bIns="53775" lIns="53775" spcFirstLastPara="1" rIns="53775" wrap="square" tIns="5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471">
                  <a:latin typeface="Meiryo"/>
                  <a:ea typeface="Meiryo"/>
                  <a:cs typeface="Meiryo"/>
                  <a:sym typeface="Meiryo"/>
                </a:rPr>
                <a:t>フロントエンド</a:t>
              </a:r>
              <a:endParaRPr b="1" sz="471"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1396649" y="2052400"/>
              <a:ext cx="1960800" cy="499800"/>
            </a:xfrm>
            <a:prstGeom prst="rect">
              <a:avLst/>
            </a:prstGeom>
            <a:solidFill>
              <a:srgbClr val="FFE599"/>
            </a:solidFill>
            <a:ln cap="flat" cmpd="sng" w="5600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latin typeface="Meiryo"/>
                  <a:ea typeface="Meiryo"/>
                  <a:cs typeface="Meiryo"/>
                  <a:sym typeface="Meiryo"/>
                </a:rPr>
                <a:t>フロント</a:t>
              </a:r>
              <a:endParaRPr b="1" sz="824"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5" name="Google Shape;225;p22"/>
            <p:cNvSpPr/>
            <p:nvPr/>
          </p:nvSpPr>
          <p:spPr>
            <a:xfrm>
              <a:off x="931324" y="3565007"/>
              <a:ext cx="1960800" cy="499800"/>
            </a:xfrm>
            <a:prstGeom prst="rect">
              <a:avLst/>
            </a:prstGeom>
            <a:solidFill>
              <a:srgbClr val="A4C2F4"/>
            </a:solidFill>
            <a:ln cap="flat" cmpd="sng" w="5600">
              <a:solidFill>
                <a:srgbClr val="115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latin typeface="Meiryo"/>
                  <a:ea typeface="Meiryo"/>
                  <a:cs typeface="Meiryo"/>
                  <a:sym typeface="Meiryo"/>
                </a:rPr>
                <a:t>設定ファイル</a:t>
              </a:r>
              <a:endParaRPr b="1" sz="824"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6" name="Google Shape;226;p22"/>
            <p:cNvSpPr/>
            <p:nvPr/>
          </p:nvSpPr>
          <p:spPr>
            <a:xfrm>
              <a:off x="4022471" y="2052400"/>
              <a:ext cx="1960800" cy="499800"/>
            </a:xfrm>
            <a:prstGeom prst="rect">
              <a:avLst/>
            </a:prstGeom>
            <a:solidFill>
              <a:srgbClr val="B6D7A8"/>
            </a:solidFill>
            <a:ln cap="flat" cmpd="sng" w="560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latin typeface="Meiryo"/>
                  <a:ea typeface="Meiryo"/>
                  <a:cs typeface="Meiryo"/>
                  <a:sym typeface="Meiryo"/>
                </a:rPr>
                <a:t>WebView</a:t>
              </a:r>
              <a:endParaRPr b="1" sz="824"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7" name="Google Shape;227;p22"/>
            <p:cNvSpPr/>
            <p:nvPr/>
          </p:nvSpPr>
          <p:spPr>
            <a:xfrm>
              <a:off x="4022471" y="3343907"/>
              <a:ext cx="1960800" cy="499800"/>
            </a:xfrm>
            <a:prstGeom prst="rect">
              <a:avLst/>
            </a:prstGeom>
            <a:solidFill>
              <a:srgbClr val="B6D7A8"/>
            </a:solidFill>
            <a:ln cap="flat" cmpd="sng" w="560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latin typeface="Meiryo"/>
                  <a:ea typeface="Meiryo"/>
                  <a:cs typeface="Meiryo"/>
                  <a:sym typeface="Meiryo"/>
                </a:rPr>
                <a:t>コアプログラムna</a:t>
              </a:r>
              <a:endParaRPr b="1" sz="824"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8" name="Google Shape;228;p22"/>
            <p:cNvSpPr/>
            <p:nvPr/>
          </p:nvSpPr>
          <p:spPr>
            <a:xfrm>
              <a:off x="6822800" y="3065188"/>
              <a:ext cx="1462200" cy="499800"/>
            </a:xfrm>
            <a:prstGeom prst="rect">
              <a:avLst/>
            </a:prstGeom>
            <a:solidFill>
              <a:srgbClr val="B6D7A8"/>
            </a:solidFill>
            <a:ln cap="flat" cmpd="sng" w="560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latin typeface="Meiryo"/>
                  <a:ea typeface="Meiryo"/>
                  <a:cs typeface="Meiryo"/>
                  <a:sym typeface="Meiryo"/>
                </a:rPr>
                <a:t>モジュール</a:t>
              </a:r>
              <a:endParaRPr b="1" sz="824"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9" name="Google Shape;229;p22"/>
            <p:cNvSpPr/>
            <p:nvPr/>
          </p:nvSpPr>
          <p:spPr>
            <a:xfrm>
              <a:off x="6936441" y="3217588"/>
              <a:ext cx="1462200" cy="499800"/>
            </a:xfrm>
            <a:prstGeom prst="rect">
              <a:avLst/>
            </a:prstGeom>
            <a:solidFill>
              <a:srgbClr val="B6D7A8"/>
            </a:solidFill>
            <a:ln cap="flat" cmpd="sng" w="560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latin typeface="Meiryo"/>
                  <a:ea typeface="Meiryo"/>
                  <a:cs typeface="Meiryo"/>
                  <a:sym typeface="Meiryo"/>
                </a:rPr>
                <a:t>モジュール</a:t>
              </a:r>
              <a:endParaRPr b="1" sz="824"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0" name="Google Shape;230;p22"/>
            <p:cNvSpPr/>
            <p:nvPr/>
          </p:nvSpPr>
          <p:spPr>
            <a:xfrm>
              <a:off x="7050082" y="3369988"/>
              <a:ext cx="1462200" cy="499800"/>
            </a:xfrm>
            <a:prstGeom prst="rect">
              <a:avLst/>
            </a:prstGeom>
            <a:solidFill>
              <a:srgbClr val="B6D7A8"/>
            </a:solidFill>
            <a:ln cap="flat" cmpd="sng" w="560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latin typeface="Meiryo"/>
                  <a:ea typeface="Meiryo"/>
                  <a:cs typeface="Meiryo"/>
                  <a:sym typeface="Meiryo"/>
                </a:rPr>
                <a:t>モジュール</a:t>
              </a:r>
              <a:endParaRPr b="1" sz="824"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1" name="Google Shape;231;p22"/>
            <p:cNvSpPr/>
            <p:nvPr/>
          </p:nvSpPr>
          <p:spPr>
            <a:xfrm>
              <a:off x="7163723" y="3522388"/>
              <a:ext cx="1462200" cy="499800"/>
            </a:xfrm>
            <a:prstGeom prst="rect">
              <a:avLst/>
            </a:prstGeom>
            <a:solidFill>
              <a:srgbClr val="B6D7A8"/>
            </a:solidFill>
            <a:ln cap="flat" cmpd="sng" w="560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latin typeface="Meiryo"/>
                  <a:ea typeface="Meiryo"/>
                  <a:cs typeface="Meiryo"/>
                  <a:sym typeface="Meiryo"/>
                </a:rPr>
                <a:t>内部モジュール</a:t>
              </a:r>
              <a:endParaRPr b="1" sz="824">
                <a:latin typeface="Meiryo"/>
                <a:ea typeface="Meiryo"/>
                <a:cs typeface="Meiryo"/>
                <a:sym typeface="Meiryo"/>
              </a:endParaRPr>
            </a:p>
          </p:txBody>
        </p:sp>
        <p:cxnSp>
          <p:nvCxnSpPr>
            <p:cNvPr id="232" name="Google Shape;232;p22"/>
            <p:cNvCxnSpPr>
              <a:stCxn id="224" idx="3"/>
              <a:endCxn id="226" idx="1"/>
            </p:cNvCxnSpPr>
            <p:nvPr/>
          </p:nvCxnSpPr>
          <p:spPr>
            <a:xfrm>
              <a:off x="3357449" y="2302300"/>
              <a:ext cx="665100" cy="0"/>
            </a:xfrm>
            <a:prstGeom prst="straightConnector1">
              <a:avLst/>
            </a:prstGeom>
            <a:noFill/>
            <a:ln cap="flat" cmpd="sng" w="112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3" name="Google Shape;233;p22"/>
            <p:cNvCxnSpPr>
              <a:stCxn id="225" idx="0"/>
              <a:endCxn id="224" idx="2"/>
            </p:cNvCxnSpPr>
            <p:nvPr/>
          </p:nvCxnSpPr>
          <p:spPr>
            <a:xfrm flipH="1" rot="10800000">
              <a:off x="1911724" y="2552207"/>
              <a:ext cx="465300" cy="1012800"/>
            </a:xfrm>
            <a:prstGeom prst="straightConnector1">
              <a:avLst/>
            </a:prstGeom>
            <a:noFill/>
            <a:ln cap="flat" cmpd="sng" w="112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4" name="Google Shape;234;p22"/>
            <p:cNvCxnSpPr>
              <a:stCxn id="226" idx="2"/>
              <a:endCxn id="227" idx="0"/>
            </p:cNvCxnSpPr>
            <p:nvPr/>
          </p:nvCxnSpPr>
          <p:spPr>
            <a:xfrm>
              <a:off x="5002871" y="2552200"/>
              <a:ext cx="0" cy="791700"/>
            </a:xfrm>
            <a:prstGeom prst="straightConnector1">
              <a:avLst/>
            </a:prstGeom>
            <a:noFill/>
            <a:ln cap="flat" cmpd="sng" w="112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5" name="Google Shape;235;p22"/>
            <p:cNvCxnSpPr>
              <a:stCxn id="227" idx="3"/>
            </p:cNvCxnSpPr>
            <p:nvPr/>
          </p:nvCxnSpPr>
          <p:spPr>
            <a:xfrm flipH="1" rot="10800000">
              <a:off x="5983271" y="3590807"/>
              <a:ext cx="1088700" cy="3000"/>
            </a:xfrm>
            <a:prstGeom prst="straightConnector1">
              <a:avLst/>
            </a:prstGeom>
            <a:noFill/>
            <a:ln cap="flat" cmpd="sng" w="112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6" name="Google Shape;236;p22"/>
            <p:cNvCxnSpPr>
              <a:stCxn id="225" idx="3"/>
              <a:endCxn id="227" idx="1"/>
            </p:cNvCxnSpPr>
            <p:nvPr/>
          </p:nvCxnSpPr>
          <p:spPr>
            <a:xfrm flipH="1" rot="10800000">
              <a:off x="2892124" y="3593807"/>
              <a:ext cx="1130400" cy="221100"/>
            </a:xfrm>
            <a:prstGeom prst="straightConnector1">
              <a:avLst/>
            </a:prstGeom>
            <a:noFill/>
            <a:ln cap="flat" cmpd="sng" w="112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7" name="Google Shape;237;p22"/>
            <p:cNvSpPr/>
            <p:nvPr/>
          </p:nvSpPr>
          <p:spPr>
            <a:xfrm>
              <a:off x="740225" y="1215900"/>
              <a:ext cx="1495800" cy="2910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647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アプリケーション</a:t>
              </a:r>
              <a:endParaRPr b="1" sz="647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8" name="Google Shape;238;p22"/>
            <p:cNvSpPr/>
            <p:nvPr/>
          </p:nvSpPr>
          <p:spPr>
            <a:xfrm>
              <a:off x="369125" y="1919450"/>
              <a:ext cx="8381400" cy="788400"/>
            </a:xfrm>
            <a:prstGeom prst="rect">
              <a:avLst/>
            </a:prstGeom>
            <a:noFill/>
            <a:ln cap="flat" cmpd="sng" w="56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solidFill>
                    <a:srgbClr val="999999"/>
                  </a:solidFill>
                  <a:latin typeface="Meiryo"/>
                  <a:ea typeface="Meiryo"/>
                  <a:cs typeface="Meiryo"/>
                  <a:sym typeface="Meiryo"/>
                </a:rPr>
                <a:t>GUI</a:t>
              </a:r>
              <a:endParaRPr b="1" sz="824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39" name="Google Shape;239;p22"/>
            <p:cNvSpPr/>
            <p:nvPr/>
          </p:nvSpPr>
          <p:spPr>
            <a:xfrm>
              <a:off x="369125" y="2967544"/>
              <a:ext cx="8381400" cy="1198800"/>
            </a:xfrm>
            <a:prstGeom prst="rect">
              <a:avLst/>
            </a:prstGeom>
            <a:noFill/>
            <a:ln cap="flat" cmpd="sng" w="56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solidFill>
                    <a:srgbClr val="999999"/>
                  </a:solidFill>
                  <a:latin typeface="Meiryo"/>
                  <a:ea typeface="Meiryo"/>
                  <a:cs typeface="Meiryo"/>
                  <a:sym typeface="Meiryo"/>
                </a:rPr>
                <a:t>CLI</a:t>
              </a:r>
              <a:endParaRPr b="1" sz="824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240" name="Google Shape;240;p22"/>
          <p:cNvSpPr/>
          <p:nvPr/>
        </p:nvSpPr>
        <p:spPr>
          <a:xfrm>
            <a:off x="576900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再利用性</a:t>
            </a:r>
            <a:endParaRPr sz="1800"/>
          </a:p>
        </p:txBody>
      </p:sp>
      <p:sp>
        <p:nvSpPr>
          <p:cNvPr id="241" name="Google Shape;241;p22"/>
          <p:cNvSpPr/>
          <p:nvPr/>
        </p:nvSpPr>
        <p:spPr>
          <a:xfrm>
            <a:off x="3465677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拡張性</a:t>
            </a:r>
            <a:endParaRPr sz="1800"/>
          </a:p>
        </p:txBody>
      </p:sp>
      <p:sp>
        <p:nvSpPr>
          <p:cNvPr id="242" name="Google Shape;242;p22"/>
          <p:cNvSpPr/>
          <p:nvPr/>
        </p:nvSpPr>
        <p:spPr>
          <a:xfrm>
            <a:off x="6232929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1"/>
                </a:solidFill>
              </a:rPr>
              <a:t>容易性</a:t>
            </a:r>
            <a:endParaRPr sz="1800"/>
          </a:p>
        </p:txBody>
      </p:sp>
      <p:pic>
        <p:nvPicPr>
          <p:cNvPr id="243" name="Google Shape;2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400" y="4215775"/>
            <a:ext cx="526450" cy="66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4850" y="4160950"/>
            <a:ext cx="790850" cy="7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9750" y="4407475"/>
            <a:ext cx="526450" cy="66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6200" y="4352650"/>
            <a:ext cx="790850" cy="7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2575" y="4215775"/>
            <a:ext cx="526450" cy="66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9025" y="4160950"/>
            <a:ext cx="790850" cy="7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475" y="1553225"/>
            <a:ext cx="526450" cy="66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925" y="1498400"/>
            <a:ext cx="790850" cy="7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6700" y="1343750"/>
            <a:ext cx="526450" cy="66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3150" y="1288925"/>
            <a:ext cx="790850" cy="790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2" name="Google Shape;252;p22"/>
          <p:cNvCxnSpPr>
            <a:stCxn id="249" idx="2"/>
          </p:cNvCxnSpPr>
          <p:nvPr/>
        </p:nvCxnSpPr>
        <p:spPr>
          <a:xfrm flipH="1" rot="10800000">
            <a:off x="521700" y="2169825"/>
            <a:ext cx="2221200" cy="498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22"/>
          <p:cNvCxnSpPr>
            <a:stCxn id="243" idx="0"/>
          </p:cNvCxnSpPr>
          <p:nvPr/>
        </p:nvCxnSpPr>
        <p:spPr>
          <a:xfrm flipH="1" rot="10800000">
            <a:off x="1061625" y="2302675"/>
            <a:ext cx="1797600" cy="19131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22"/>
          <p:cNvCxnSpPr>
            <a:stCxn id="245" idx="0"/>
          </p:cNvCxnSpPr>
          <p:nvPr/>
        </p:nvCxnSpPr>
        <p:spPr>
          <a:xfrm rot="10800000">
            <a:off x="3033475" y="2344375"/>
            <a:ext cx="1429500" cy="20631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22"/>
          <p:cNvCxnSpPr/>
          <p:nvPr/>
        </p:nvCxnSpPr>
        <p:spPr>
          <a:xfrm rot="10800000">
            <a:off x="3689975" y="2352575"/>
            <a:ext cx="3473400" cy="19611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" name="Google Shape;256;p22"/>
          <p:cNvCxnSpPr/>
          <p:nvPr/>
        </p:nvCxnSpPr>
        <p:spPr>
          <a:xfrm flipH="1">
            <a:off x="3955875" y="1571575"/>
            <a:ext cx="3747600" cy="5151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22"/>
          <p:cNvCxnSpPr/>
          <p:nvPr/>
        </p:nvCxnSpPr>
        <p:spPr>
          <a:xfrm flipH="1" rot="10800000">
            <a:off x="1945075" y="3025575"/>
            <a:ext cx="4055100" cy="11967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22"/>
          <p:cNvCxnSpPr/>
          <p:nvPr/>
        </p:nvCxnSpPr>
        <p:spPr>
          <a:xfrm flipH="1" rot="10800000">
            <a:off x="5351925" y="3178025"/>
            <a:ext cx="800700" cy="11772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22"/>
          <p:cNvCxnSpPr/>
          <p:nvPr/>
        </p:nvCxnSpPr>
        <p:spPr>
          <a:xfrm rot="10800000">
            <a:off x="6847700" y="3258325"/>
            <a:ext cx="872400" cy="9141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22"/>
          <p:cNvCxnSpPr>
            <a:endCxn id="239" idx="3"/>
          </p:cNvCxnSpPr>
          <p:nvPr/>
        </p:nvCxnSpPr>
        <p:spPr>
          <a:xfrm flipH="1">
            <a:off x="7067276" y="2036795"/>
            <a:ext cx="1383900" cy="8445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" name="Google Shape;261;p22"/>
          <p:cNvSpPr/>
          <p:nvPr/>
        </p:nvSpPr>
        <p:spPr>
          <a:xfrm>
            <a:off x="2435350" y="1646376"/>
            <a:ext cx="1894491" cy="1005633"/>
          </a:xfrm>
          <a:custGeom>
            <a:rect b="b" l="l" r="r" t="t"/>
            <a:pathLst>
              <a:path extrusionOk="0" h="69594" w="81361">
                <a:moveTo>
                  <a:pt x="62398" y="66604"/>
                </a:moveTo>
                <a:cubicBezTo>
                  <a:pt x="44039" y="66604"/>
                  <a:pt x="20398" y="64264"/>
                  <a:pt x="10215" y="48988"/>
                </a:cubicBezTo>
                <a:cubicBezTo>
                  <a:pt x="2836" y="37919"/>
                  <a:pt x="-5399" y="17859"/>
                  <a:pt x="4897" y="9435"/>
                </a:cubicBezTo>
                <a:cubicBezTo>
                  <a:pt x="21217" y="-3917"/>
                  <a:pt x="54697" y="-3229"/>
                  <a:pt x="68048" y="13091"/>
                </a:cubicBezTo>
                <a:cubicBezTo>
                  <a:pt x="76946" y="23967"/>
                  <a:pt x="83435" y="39530"/>
                  <a:pt x="80679" y="53309"/>
                </a:cubicBezTo>
                <a:cubicBezTo>
                  <a:pt x="78875" y="62327"/>
                  <a:pt x="67135" y="66690"/>
                  <a:pt x="58410" y="69595"/>
                </a:cubicBezTo>
              </a:path>
            </a:pathLst>
          </a:cu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2" name="Google Shape;262;p22"/>
          <p:cNvSpPr/>
          <p:nvPr/>
        </p:nvSpPr>
        <p:spPr>
          <a:xfrm>
            <a:off x="5517050" y="2495751"/>
            <a:ext cx="1894491" cy="1005633"/>
          </a:xfrm>
          <a:custGeom>
            <a:rect b="b" l="l" r="r" t="t"/>
            <a:pathLst>
              <a:path extrusionOk="0" h="69594" w="81361">
                <a:moveTo>
                  <a:pt x="62398" y="66604"/>
                </a:moveTo>
                <a:cubicBezTo>
                  <a:pt x="44039" y="66604"/>
                  <a:pt x="20398" y="64264"/>
                  <a:pt x="10215" y="48988"/>
                </a:cubicBezTo>
                <a:cubicBezTo>
                  <a:pt x="2836" y="37919"/>
                  <a:pt x="-5399" y="17859"/>
                  <a:pt x="4897" y="9435"/>
                </a:cubicBezTo>
                <a:cubicBezTo>
                  <a:pt x="21217" y="-3917"/>
                  <a:pt x="54697" y="-3229"/>
                  <a:pt x="68048" y="13091"/>
                </a:cubicBezTo>
                <a:cubicBezTo>
                  <a:pt x="76946" y="23967"/>
                  <a:pt x="83435" y="39530"/>
                  <a:pt x="80679" y="53309"/>
                </a:cubicBezTo>
                <a:cubicBezTo>
                  <a:pt x="78875" y="62327"/>
                  <a:pt x="67135" y="66690"/>
                  <a:pt x="58410" y="69595"/>
                </a:cubicBezTo>
              </a:path>
            </a:pathLst>
          </a:custGeom>
          <a:noFill/>
          <a:ln cap="flat" cmpd="sng" w="76200">
            <a:solidFill>
              <a:srgbClr val="188038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